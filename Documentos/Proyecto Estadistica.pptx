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41.png" ContentType="image/png"/>
  <Override PartName="/ppt/media/image30.png" ContentType="image/png"/>
  <Override PartName="/ppt/media/image28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11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2B975D-F79D-4D18-8DC9-54BC178756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0B14A3-1863-4468-B312-04DC7FCA72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0BC10C-D4EF-43A8-8279-789BDA2045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D92B9D-95C5-4D74-813B-0C2EB443C8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143E2E-79E1-4E5A-8D0D-5C2B2FD5D5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7CDB02-C4AF-4F24-AEA3-C989FC5A5C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2C779E-5D78-4E9B-A341-72D7518AAA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D15FC3-CF53-486B-8528-D8154DA7EF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715241-AAF8-41E1-8D4F-F92B2D9B70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CC1907-E6B5-40C1-9D78-FCF8F85001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4690E-838F-463D-97EA-198A23D6CD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DAA50C-BE39-4308-9D9F-4680B8745B6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&lt;fecha/hora&gt;</a:t>
            </a:r>
            <a:endParaRPr b="0" lang="es-E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s-E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ES" sz="1400" spc="-1" strike="noStrike">
                <a:latin typeface="Times New Roman"/>
              </a:rPr>
              <a:t>&lt;pie de página&gt;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C2A3A4-ADA9-47F2-AA1F-2416B078DD1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2"/>
          <p:cNvSpPr/>
          <p:nvPr/>
        </p:nvSpPr>
        <p:spPr>
          <a:xfrm>
            <a:off x="4780440" y="2062800"/>
            <a:ext cx="8229240" cy="36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7282"/>
              </a:lnSpc>
              <a:buNone/>
            </a:pPr>
            <a:r>
              <a:rPr b="0" lang="en-US" sz="774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Todos los días </a:t>
            </a:r>
            <a:endParaRPr b="0" lang="es-ES" sz="7740" spc="-1" strike="noStrike">
              <a:latin typeface="Arial"/>
            </a:endParaRPr>
          </a:p>
          <a:p>
            <a:pPr algn="ctr">
              <a:lnSpc>
                <a:spcPts val="7282"/>
              </a:lnSpc>
              <a:buNone/>
            </a:pPr>
            <a:r>
              <a:rPr b="0" lang="en-US" sz="774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deberían empezar con un Croissant</a:t>
            </a:r>
            <a:endParaRPr b="0" lang="es-ES" sz="7740" spc="-1" strike="noStrike">
              <a:latin typeface="Arial"/>
            </a:endParaRPr>
          </a:p>
        </p:txBody>
      </p:sp>
      <p:sp>
        <p:nvSpPr>
          <p:cNvPr id="42" name="Freeform 3"/>
          <p:cNvSpPr/>
          <p:nvPr/>
        </p:nvSpPr>
        <p:spPr>
          <a:xfrm rot="21107400">
            <a:off x="9015840" y="6036480"/>
            <a:ext cx="4094640" cy="3038760"/>
          </a:xfrm>
          <a:custGeom>
            <a:avLst/>
            <a:gdLst/>
            <a:ahLst/>
            <a:rect l="l" t="t" r="r" b="b"/>
            <a:pathLst>
              <a:path w="4095081" h="3039117">
                <a:moveTo>
                  <a:pt x="0" y="0"/>
                </a:moveTo>
                <a:lnTo>
                  <a:pt x="4095081" y="0"/>
                </a:lnTo>
                <a:lnTo>
                  <a:pt x="4095081" y="3039117"/>
                </a:lnTo>
                <a:lnTo>
                  <a:pt x="0" y="303911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TextBox 4"/>
          <p:cNvSpPr/>
          <p:nvPr/>
        </p:nvSpPr>
        <p:spPr>
          <a:xfrm>
            <a:off x="5965920" y="718200"/>
            <a:ext cx="5858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437" strike="noStrike">
                <a:solidFill>
                  <a:srgbClr val="000000"/>
                </a:solidFill>
                <a:latin typeface="Montserrat Semi-Bold"/>
                <a:ea typeface="Montserrat Semi-Bold"/>
              </a:rPr>
              <a:t>PAN Y ARTE YUMBO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7086600" y="8746560"/>
            <a:ext cx="4114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100"/>
              </a:lnSpc>
              <a:buNone/>
            </a:pPr>
            <a:r>
              <a:rPr b="0" lang="en-US" sz="1500" spc="327" strike="noStrike">
                <a:solidFill>
                  <a:srgbClr val="000000"/>
                </a:solidFill>
                <a:latin typeface="Montserrat"/>
                <a:ea typeface="Montserrat"/>
              </a:rPr>
              <a:t>ESTADÍSTICA</a:t>
            </a:r>
            <a:endParaRPr b="0" lang="es-E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2"/>
          <p:cNvSpPr/>
          <p:nvPr/>
        </p:nvSpPr>
        <p:spPr>
          <a:xfrm>
            <a:off x="-664200" y="6677640"/>
            <a:ext cx="6102720" cy="4114440"/>
          </a:xfrm>
          <a:custGeom>
            <a:avLst/>
            <a:gdLst/>
            <a:ah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Freeform 3"/>
          <p:cNvSpPr/>
          <p:nvPr/>
        </p:nvSpPr>
        <p:spPr>
          <a:xfrm flipH="1" flipV="1">
            <a:off x="12184920" y="-1029240"/>
            <a:ext cx="6102720" cy="4114440"/>
          </a:xfrm>
          <a:custGeom>
            <a:avLst/>
            <a:gdLst/>
            <a:ah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Freeform 4"/>
          <p:cNvSpPr/>
          <p:nvPr/>
        </p:nvSpPr>
        <p:spPr>
          <a:xfrm flipH="1">
            <a:off x="-92520" y="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Freeform 5"/>
          <p:cNvSpPr/>
          <p:nvPr/>
        </p:nvSpPr>
        <p:spPr>
          <a:xfrm flipV="1">
            <a:off x="11578680" y="720072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0" y="3204754"/>
                </a:moveTo>
                <a:lnTo>
                  <a:pt x="7315200" y="3204754"/>
                </a:lnTo>
                <a:lnTo>
                  <a:pt x="7315200" y="0"/>
                </a:lnTo>
                <a:lnTo>
                  <a:pt x="0" y="0"/>
                </a:lnTo>
                <a:lnTo>
                  <a:pt x="0" y="3204754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Freeform 6"/>
          <p:cNvSpPr/>
          <p:nvPr/>
        </p:nvSpPr>
        <p:spPr>
          <a:xfrm>
            <a:off x="14254920" y="-455040"/>
            <a:ext cx="5040000" cy="4114440"/>
          </a:xfrm>
          <a:custGeom>
            <a:avLst/>
            <a:gdLst/>
            <a:ah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Freeform 7"/>
          <p:cNvSpPr/>
          <p:nvPr/>
        </p:nvSpPr>
        <p:spPr>
          <a:xfrm>
            <a:off x="376920" y="7584480"/>
            <a:ext cx="2369520" cy="2300400"/>
          </a:xfrm>
          <a:custGeom>
            <a:avLst/>
            <a:gdLst/>
            <a:ah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Box 8"/>
          <p:cNvSpPr/>
          <p:nvPr/>
        </p:nvSpPr>
        <p:spPr>
          <a:xfrm>
            <a:off x="1561680" y="2369160"/>
            <a:ext cx="14639400" cy="59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6661"/>
              </a:lnSpc>
              <a:buNone/>
            </a:pPr>
            <a:r>
              <a:rPr b="0" lang="en-US" sz="5550" spc="52" strike="noStrike">
                <a:solidFill>
                  <a:srgbClr val="000000"/>
                </a:solidFill>
                <a:latin typeface="Bree Serif"/>
                <a:ea typeface="Bree Serif"/>
              </a:rPr>
              <a:t>"OPTIMIZACIÓN DE INSUMOS Y ESTRATEGIAS DE PRODUCCIÓN EN PAN Y ARTE YUMBO, VALLE: ANÁLISIS ESTADÍSTICO Y DESARROLLO DE SOFTWARE PARA REDUCIR DESPERDICIOS Y AUMENTAR VENTAS"</a:t>
            </a:r>
            <a:endParaRPr b="0" lang="es-ES" sz="5550" spc="-1" strike="noStrike">
              <a:latin typeface="Arial"/>
            </a:endParaRPr>
          </a:p>
          <a:p>
            <a:pPr algn="ctr">
              <a:lnSpc>
                <a:spcPts val="6661"/>
              </a:lnSpc>
              <a:buNone/>
              <a:tabLst>
                <a:tab algn="l" pos="0"/>
              </a:tabLst>
            </a:pPr>
            <a:endParaRPr b="0" lang="es-ES" sz="1800" spc="-1" strike="noStrike">
              <a:latin typeface="Arial"/>
            </a:endParaRPr>
          </a:p>
        </p:txBody>
      </p:sp>
      <p:grpSp>
        <p:nvGrpSpPr>
          <p:cNvPr id="52" name="Group 9"/>
          <p:cNvGrpSpPr/>
          <p:nvPr/>
        </p:nvGrpSpPr>
        <p:grpSpPr>
          <a:xfrm>
            <a:off x="7930800" y="7558200"/>
            <a:ext cx="2462040" cy="2144880"/>
            <a:chOff x="7930800" y="7558200"/>
            <a:chExt cx="2462040" cy="2144880"/>
          </a:xfrm>
        </p:grpSpPr>
        <p:grpSp>
          <p:nvGrpSpPr>
            <p:cNvPr id="53" name="Group 10"/>
            <p:cNvGrpSpPr/>
            <p:nvPr/>
          </p:nvGrpSpPr>
          <p:grpSpPr>
            <a:xfrm>
              <a:off x="8308440" y="8497800"/>
              <a:ext cx="835200" cy="1087920"/>
              <a:chOff x="8308440" y="8497800"/>
              <a:chExt cx="835200" cy="1087920"/>
            </a:xfrm>
          </p:grpSpPr>
          <p:sp>
            <p:nvSpPr>
              <p:cNvPr id="54" name="Freeform 11"/>
              <p:cNvSpPr/>
              <p:nvPr/>
            </p:nvSpPr>
            <p:spPr>
              <a:xfrm rot="19695000">
                <a:off x="8584920" y="8544960"/>
                <a:ext cx="308880" cy="1036440"/>
              </a:xfrm>
              <a:custGeom>
                <a:avLst/>
                <a:gdLst/>
                <a:ahLst/>
                <a:rect l="l" t="t" r="r" b="b"/>
                <a:pathLst>
                  <a:path w="283864" h="951262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914649"/>
                    </a:lnTo>
                    <a:cubicBezTo>
                      <a:pt x="283864" y="934870"/>
                      <a:pt x="267471" y="951262"/>
                      <a:pt x="247250" y="951262"/>
                    </a:cubicBezTo>
                    <a:lnTo>
                      <a:pt x="36614" y="951262"/>
                    </a:lnTo>
                    <a:cubicBezTo>
                      <a:pt x="26903" y="951262"/>
                      <a:pt x="17590" y="947405"/>
                      <a:pt x="10724" y="940538"/>
                    </a:cubicBezTo>
                    <a:cubicBezTo>
                      <a:pt x="3857" y="933672"/>
                      <a:pt x="0" y="924359"/>
                      <a:pt x="0" y="914649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" name="TextBox 12"/>
              <p:cNvSpPr/>
              <p:nvPr/>
            </p:nvSpPr>
            <p:spPr>
              <a:xfrm rot="19695000">
                <a:off x="8571600" y="8497440"/>
                <a:ext cx="308880" cy="108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6" name="AutoShape 13"/>
            <p:cNvSpPr/>
            <p:nvPr/>
          </p:nvSpPr>
          <p:spPr>
            <a:xfrm flipV="1">
              <a:off x="8708040" y="8664120"/>
              <a:ext cx="1684800" cy="102888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AutoShape 14"/>
            <p:cNvSpPr/>
            <p:nvPr/>
          </p:nvSpPr>
          <p:spPr>
            <a:xfrm flipH="1" flipV="1">
              <a:off x="7930800" y="8437320"/>
              <a:ext cx="783360" cy="126576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" name="AutoShape 15"/>
            <p:cNvSpPr/>
            <p:nvPr/>
          </p:nvSpPr>
          <p:spPr>
            <a:xfrm flipH="1">
              <a:off x="8543160" y="9504360"/>
              <a:ext cx="155520" cy="9648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AutoShape 16"/>
            <p:cNvSpPr/>
            <p:nvPr/>
          </p:nvSpPr>
          <p:spPr>
            <a:xfrm flipH="1">
              <a:off x="8466840" y="9380880"/>
              <a:ext cx="155520" cy="961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" name="AutoShape 17"/>
            <p:cNvSpPr/>
            <p:nvPr/>
          </p:nvSpPr>
          <p:spPr>
            <a:xfrm flipH="1">
              <a:off x="8390160" y="9257400"/>
              <a:ext cx="155520" cy="961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" name="AutoShape 18"/>
            <p:cNvSpPr/>
            <p:nvPr/>
          </p:nvSpPr>
          <p:spPr>
            <a:xfrm flipH="1">
              <a:off x="8313840" y="9133920"/>
              <a:ext cx="155520" cy="961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AutoShape 19"/>
            <p:cNvSpPr/>
            <p:nvPr/>
          </p:nvSpPr>
          <p:spPr>
            <a:xfrm flipH="1">
              <a:off x="8237520" y="9010440"/>
              <a:ext cx="155520" cy="961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" name="AutoShape 20"/>
            <p:cNvSpPr/>
            <p:nvPr/>
          </p:nvSpPr>
          <p:spPr>
            <a:xfrm flipH="1">
              <a:off x="8160840" y="8886600"/>
              <a:ext cx="155520" cy="9648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AutoShape 21"/>
            <p:cNvSpPr/>
            <p:nvPr/>
          </p:nvSpPr>
          <p:spPr>
            <a:xfrm flipH="1">
              <a:off x="8084520" y="8763120"/>
              <a:ext cx="155520" cy="961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AutoShape 22"/>
            <p:cNvSpPr/>
            <p:nvPr/>
          </p:nvSpPr>
          <p:spPr>
            <a:xfrm flipH="1">
              <a:off x="8007840" y="8639640"/>
              <a:ext cx="155520" cy="961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" name="AutoShape 23"/>
            <p:cNvSpPr/>
            <p:nvPr/>
          </p:nvSpPr>
          <p:spPr>
            <a:xfrm flipH="1">
              <a:off x="7931520" y="8516160"/>
              <a:ext cx="155520" cy="961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AutoShape 24"/>
            <p:cNvSpPr/>
            <p:nvPr/>
          </p:nvSpPr>
          <p:spPr>
            <a:xfrm>
              <a:off x="10221840" y="8648280"/>
              <a:ext cx="96480" cy="1555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AutoShape 25"/>
            <p:cNvSpPr/>
            <p:nvPr/>
          </p:nvSpPr>
          <p:spPr>
            <a:xfrm>
              <a:off x="9942480" y="8821440"/>
              <a:ext cx="96480" cy="1555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AutoShape 26"/>
            <p:cNvSpPr/>
            <p:nvPr/>
          </p:nvSpPr>
          <p:spPr>
            <a:xfrm>
              <a:off x="9663120" y="8994240"/>
              <a:ext cx="96480" cy="1555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AutoShape 27"/>
            <p:cNvSpPr/>
            <p:nvPr/>
          </p:nvSpPr>
          <p:spPr>
            <a:xfrm>
              <a:off x="9383760" y="9167040"/>
              <a:ext cx="96480" cy="1555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AutoShape 28"/>
            <p:cNvSpPr/>
            <p:nvPr/>
          </p:nvSpPr>
          <p:spPr>
            <a:xfrm>
              <a:off x="9104400" y="9339840"/>
              <a:ext cx="96480" cy="1555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AutoShape 29"/>
            <p:cNvSpPr/>
            <p:nvPr/>
          </p:nvSpPr>
          <p:spPr>
            <a:xfrm>
              <a:off x="8825040" y="9513000"/>
              <a:ext cx="96480" cy="155520"/>
            </a:xfrm>
            <a:prstGeom prst="line">
              <a:avLst/>
            </a:prstGeom>
            <a:ln cap="rnd" w="3716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73" name="Group 30"/>
            <p:cNvGrpSpPr/>
            <p:nvPr/>
          </p:nvGrpSpPr>
          <p:grpSpPr>
            <a:xfrm>
              <a:off x="8740800" y="8571960"/>
              <a:ext cx="682560" cy="840600"/>
              <a:chOff x="8740800" y="8571960"/>
              <a:chExt cx="682560" cy="840600"/>
            </a:xfrm>
          </p:grpSpPr>
          <p:sp>
            <p:nvSpPr>
              <p:cNvPr id="74" name="Freeform 31"/>
              <p:cNvSpPr/>
              <p:nvPr/>
            </p:nvSpPr>
            <p:spPr>
              <a:xfrm rot="19695000">
                <a:off x="8940960" y="8641080"/>
                <a:ext cx="308880" cy="745920"/>
              </a:xfrm>
              <a:custGeom>
                <a:avLst/>
                <a:gdLst/>
                <a:ahLst/>
                <a:rect l="l" t="t" r="r" b="b"/>
                <a:pathLst>
                  <a:path w="283864" h="684662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648048"/>
                    </a:lnTo>
                    <a:cubicBezTo>
                      <a:pt x="283864" y="657759"/>
                      <a:pt x="280006" y="667072"/>
                      <a:pt x="273140" y="673938"/>
                    </a:cubicBezTo>
                    <a:cubicBezTo>
                      <a:pt x="266273" y="680804"/>
                      <a:pt x="256961" y="684662"/>
                      <a:pt x="247250" y="684662"/>
                    </a:cubicBezTo>
                    <a:lnTo>
                      <a:pt x="36614" y="684662"/>
                    </a:lnTo>
                    <a:cubicBezTo>
                      <a:pt x="26903" y="684662"/>
                      <a:pt x="17590" y="680804"/>
                      <a:pt x="10724" y="673938"/>
                    </a:cubicBezTo>
                    <a:cubicBezTo>
                      <a:pt x="3857" y="667072"/>
                      <a:pt x="0" y="657759"/>
                      <a:pt x="0" y="648048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" name="TextBox 32"/>
              <p:cNvSpPr/>
              <p:nvPr/>
            </p:nvSpPr>
            <p:spPr>
              <a:xfrm rot="19695000">
                <a:off x="8927280" y="8593200"/>
                <a:ext cx="308880" cy="797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6" name="Group 33"/>
            <p:cNvGrpSpPr/>
            <p:nvPr/>
          </p:nvGrpSpPr>
          <p:grpSpPr>
            <a:xfrm>
              <a:off x="8791200" y="8028000"/>
              <a:ext cx="911880" cy="1211760"/>
              <a:chOff x="8791200" y="8028000"/>
              <a:chExt cx="911880" cy="1211760"/>
            </a:xfrm>
          </p:grpSpPr>
          <p:sp>
            <p:nvSpPr>
              <p:cNvPr id="77" name="Freeform 34"/>
              <p:cNvSpPr/>
              <p:nvPr/>
            </p:nvSpPr>
            <p:spPr>
              <a:xfrm rot="19695000">
                <a:off x="9106200" y="8064720"/>
                <a:ext cx="308880" cy="1181880"/>
              </a:xfrm>
              <a:custGeom>
                <a:avLst/>
                <a:gdLst/>
                <a:ahLst/>
                <a:rect l="l" t="t" r="r" b="b"/>
                <a:pathLst>
                  <a:path w="283864" h="1084562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1047949"/>
                    </a:lnTo>
                    <a:cubicBezTo>
                      <a:pt x="283864" y="1057659"/>
                      <a:pt x="280006" y="1066972"/>
                      <a:pt x="273140" y="1073838"/>
                    </a:cubicBezTo>
                    <a:cubicBezTo>
                      <a:pt x="266273" y="1080705"/>
                      <a:pt x="256961" y="1084562"/>
                      <a:pt x="247250" y="1084562"/>
                    </a:cubicBezTo>
                    <a:lnTo>
                      <a:pt x="36614" y="1084562"/>
                    </a:lnTo>
                    <a:cubicBezTo>
                      <a:pt x="26903" y="1084562"/>
                      <a:pt x="17590" y="1080705"/>
                      <a:pt x="10724" y="1073838"/>
                    </a:cubicBezTo>
                    <a:cubicBezTo>
                      <a:pt x="3857" y="1066972"/>
                      <a:pt x="0" y="1057659"/>
                      <a:pt x="0" y="1047949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8" name="TextBox 35"/>
              <p:cNvSpPr/>
              <p:nvPr/>
            </p:nvSpPr>
            <p:spPr>
              <a:xfrm rot="19695000">
                <a:off x="9092520" y="8016480"/>
                <a:ext cx="308880" cy="1233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9" name="Group 36"/>
            <p:cNvGrpSpPr/>
            <p:nvPr/>
          </p:nvGrpSpPr>
          <p:grpSpPr>
            <a:xfrm>
              <a:off x="9529560" y="8596440"/>
              <a:ext cx="453240" cy="470160"/>
              <a:chOff x="9529560" y="8596440"/>
              <a:chExt cx="453240" cy="470160"/>
            </a:xfrm>
          </p:grpSpPr>
          <p:sp>
            <p:nvSpPr>
              <p:cNvPr id="80" name="Freeform 37"/>
              <p:cNvSpPr/>
              <p:nvPr/>
            </p:nvSpPr>
            <p:spPr>
              <a:xfrm rot="19695000">
                <a:off x="9615240" y="8697960"/>
                <a:ext cx="308880" cy="309960"/>
              </a:xfrm>
              <a:custGeom>
                <a:avLst/>
                <a:gdLst/>
                <a:ahLst/>
                <a:rect l="l" t="t" r="r" b="b"/>
                <a:pathLst>
                  <a:path w="283864" h="284761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248148"/>
                    </a:lnTo>
                    <a:cubicBezTo>
                      <a:pt x="283864" y="257858"/>
                      <a:pt x="280006" y="267171"/>
                      <a:pt x="273140" y="274038"/>
                    </a:cubicBezTo>
                    <a:cubicBezTo>
                      <a:pt x="266273" y="280904"/>
                      <a:pt x="256961" y="284761"/>
                      <a:pt x="247250" y="284761"/>
                    </a:cubicBezTo>
                    <a:lnTo>
                      <a:pt x="36614" y="284761"/>
                    </a:lnTo>
                    <a:cubicBezTo>
                      <a:pt x="26903" y="284761"/>
                      <a:pt x="17590" y="280904"/>
                      <a:pt x="10724" y="274038"/>
                    </a:cubicBezTo>
                    <a:cubicBezTo>
                      <a:pt x="3857" y="267171"/>
                      <a:pt x="0" y="257858"/>
                      <a:pt x="0" y="248148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1" name="TextBox 38"/>
              <p:cNvSpPr/>
              <p:nvPr/>
            </p:nvSpPr>
            <p:spPr>
              <a:xfrm rot="19695000">
                <a:off x="9601560" y="8650440"/>
                <a:ext cx="308880" cy="361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" name="Group 39"/>
            <p:cNvGrpSpPr/>
            <p:nvPr/>
          </p:nvGrpSpPr>
          <p:grpSpPr>
            <a:xfrm>
              <a:off x="9273960" y="7558200"/>
              <a:ext cx="988560" cy="1335240"/>
              <a:chOff x="9273960" y="7558200"/>
              <a:chExt cx="988560" cy="1335240"/>
            </a:xfrm>
          </p:grpSpPr>
          <p:sp>
            <p:nvSpPr>
              <p:cNvPr id="83" name="Freeform 40"/>
              <p:cNvSpPr/>
              <p:nvPr/>
            </p:nvSpPr>
            <p:spPr>
              <a:xfrm rot="19695000">
                <a:off x="9627120" y="7584120"/>
                <a:ext cx="308880" cy="1326960"/>
              </a:xfrm>
              <a:custGeom>
                <a:avLst/>
                <a:gdLst/>
                <a:ahLst/>
                <a:rect l="l" t="t" r="r" b="b"/>
                <a:pathLst>
                  <a:path w="283864" h="1217862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1181249"/>
                    </a:lnTo>
                    <a:cubicBezTo>
                      <a:pt x="283864" y="1190959"/>
                      <a:pt x="280006" y="1200272"/>
                      <a:pt x="273140" y="1207139"/>
                    </a:cubicBezTo>
                    <a:cubicBezTo>
                      <a:pt x="266273" y="1214005"/>
                      <a:pt x="256961" y="1217862"/>
                      <a:pt x="247250" y="1217862"/>
                    </a:cubicBezTo>
                    <a:lnTo>
                      <a:pt x="36614" y="1217862"/>
                    </a:lnTo>
                    <a:cubicBezTo>
                      <a:pt x="26903" y="1217862"/>
                      <a:pt x="17590" y="1214005"/>
                      <a:pt x="10724" y="1207139"/>
                    </a:cubicBezTo>
                    <a:cubicBezTo>
                      <a:pt x="3857" y="1200272"/>
                      <a:pt x="0" y="1190959"/>
                      <a:pt x="0" y="1181249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" name="TextBox 41"/>
              <p:cNvSpPr/>
              <p:nvPr/>
            </p:nvSpPr>
            <p:spPr>
              <a:xfrm rot="19695000">
                <a:off x="9613440" y="7535880"/>
                <a:ext cx="308880" cy="1379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85" name="Group 42"/>
          <p:cNvGrpSpPr/>
          <p:nvPr/>
        </p:nvGrpSpPr>
        <p:grpSpPr>
          <a:xfrm>
            <a:off x="4073760" y="7644600"/>
            <a:ext cx="2233080" cy="1981080"/>
            <a:chOff x="4073760" y="7644600"/>
            <a:chExt cx="2233080" cy="1981080"/>
          </a:xfrm>
        </p:grpSpPr>
        <p:sp>
          <p:nvSpPr>
            <p:cNvPr id="86" name="AutoShape 43"/>
            <p:cNvSpPr/>
            <p:nvPr/>
          </p:nvSpPr>
          <p:spPr>
            <a:xfrm flipV="1">
              <a:off x="4518360" y="8487000"/>
              <a:ext cx="1788480" cy="110232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AutoShape 44"/>
            <p:cNvSpPr/>
            <p:nvPr/>
          </p:nvSpPr>
          <p:spPr>
            <a:xfrm>
              <a:off x="6140160" y="846216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AutoShape 45"/>
            <p:cNvSpPr/>
            <p:nvPr/>
          </p:nvSpPr>
          <p:spPr>
            <a:xfrm>
              <a:off x="5826240" y="865548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AutoShape 46"/>
            <p:cNvSpPr/>
            <p:nvPr/>
          </p:nvSpPr>
          <p:spPr>
            <a:xfrm>
              <a:off x="5512680" y="8849160"/>
              <a:ext cx="120960" cy="19584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AutoShape 47"/>
            <p:cNvSpPr/>
            <p:nvPr/>
          </p:nvSpPr>
          <p:spPr>
            <a:xfrm>
              <a:off x="5198760" y="904248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AutoShape 48"/>
            <p:cNvSpPr/>
            <p:nvPr/>
          </p:nvSpPr>
          <p:spPr>
            <a:xfrm>
              <a:off x="4884840" y="9236160"/>
              <a:ext cx="120960" cy="19584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AutoShape 49"/>
            <p:cNvSpPr/>
            <p:nvPr/>
          </p:nvSpPr>
          <p:spPr>
            <a:xfrm>
              <a:off x="4571280" y="942948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AutoShape 50"/>
            <p:cNvSpPr/>
            <p:nvPr/>
          </p:nvSpPr>
          <p:spPr>
            <a:xfrm>
              <a:off x="5652360" y="7644600"/>
              <a:ext cx="321840" cy="52272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AutoShape 51"/>
            <p:cNvSpPr/>
            <p:nvPr/>
          </p:nvSpPr>
          <p:spPr>
            <a:xfrm flipV="1">
              <a:off x="4232880" y="8681760"/>
              <a:ext cx="315720" cy="19440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AutoShape 52"/>
            <p:cNvSpPr/>
            <p:nvPr/>
          </p:nvSpPr>
          <p:spPr>
            <a:xfrm>
              <a:off x="4395240" y="8433000"/>
              <a:ext cx="318960" cy="52704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AutoShape 53"/>
            <p:cNvSpPr/>
            <p:nvPr/>
          </p:nvSpPr>
          <p:spPr>
            <a:xfrm flipV="1">
              <a:off x="4696200" y="8365320"/>
              <a:ext cx="956880" cy="58968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AutoShape 54"/>
            <p:cNvSpPr/>
            <p:nvPr/>
          </p:nvSpPr>
          <p:spPr>
            <a:xfrm flipV="1">
              <a:off x="4398120" y="7859160"/>
              <a:ext cx="953640" cy="58788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AutoShape 55"/>
            <p:cNvSpPr/>
            <p:nvPr/>
          </p:nvSpPr>
          <p:spPr>
            <a:xfrm flipV="1">
              <a:off x="5487840" y="7917120"/>
              <a:ext cx="326520" cy="20556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AutoShape 56"/>
            <p:cNvSpPr/>
            <p:nvPr/>
          </p:nvSpPr>
          <p:spPr>
            <a:xfrm>
              <a:off x="4727880" y="933264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" name="AutoShape 57"/>
            <p:cNvSpPr/>
            <p:nvPr/>
          </p:nvSpPr>
          <p:spPr>
            <a:xfrm>
              <a:off x="5041800" y="913932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AutoShape 58"/>
            <p:cNvSpPr/>
            <p:nvPr/>
          </p:nvSpPr>
          <p:spPr>
            <a:xfrm>
              <a:off x="5355720" y="894564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AutoShape 59"/>
            <p:cNvSpPr/>
            <p:nvPr/>
          </p:nvSpPr>
          <p:spPr>
            <a:xfrm>
              <a:off x="5669640" y="875232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AutoShape 60"/>
            <p:cNvSpPr/>
            <p:nvPr/>
          </p:nvSpPr>
          <p:spPr>
            <a:xfrm>
              <a:off x="5983200" y="8558640"/>
              <a:ext cx="120960" cy="196200"/>
            </a:xfrm>
            <a:prstGeom prst="line">
              <a:avLst/>
            </a:prstGeom>
            <a:ln cap="rnd" w="3613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AutoShape 61"/>
            <p:cNvSpPr/>
            <p:nvPr/>
          </p:nvSpPr>
          <p:spPr>
            <a:xfrm>
              <a:off x="4862160" y="8145360"/>
              <a:ext cx="322200" cy="52236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AutoShape 62"/>
            <p:cNvSpPr/>
            <p:nvPr/>
          </p:nvSpPr>
          <p:spPr>
            <a:xfrm>
              <a:off x="5336640" y="7849800"/>
              <a:ext cx="321480" cy="52560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AutoShape 63"/>
            <p:cNvSpPr/>
            <p:nvPr/>
          </p:nvSpPr>
          <p:spPr>
            <a:xfrm>
              <a:off x="4073760" y="8618040"/>
              <a:ext cx="318960" cy="527040"/>
            </a:xfrm>
            <a:prstGeom prst="line">
              <a:avLst/>
            </a:prstGeom>
            <a:ln cap="rnd" w="36131">
              <a:solidFill>
                <a:srgbClr val="1d79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07" name="Picture 64" descr=""/>
          <p:cNvPicPr/>
          <p:nvPr/>
        </p:nvPicPr>
        <p:blipFill>
          <a:blip r:embed="rId7"/>
          <a:stretch/>
        </p:blipFill>
        <p:spPr>
          <a:xfrm>
            <a:off x="12463920" y="7506360"/>
            <a:ext cx="1953360" cy="195336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65" descr=""/>
          <p:cNvPicPr/>
          <p:nvPr/>
        </p:nvPicPr>
        <p:blipFill>
          <a:blip r:embed="rId8"/>
          <a:stretch/>
        </p:blipFill>
        <p:spPr>
          <a:xfrm>
            <a:off x="4950720" y="-13680"/>
            <a:ext cx="7230240" cy="259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2"/>
          <p:cNvGrpSpPr/>
          <p:nvPr/>
        </p:nvGrpSpPr>
        <p:grpSpPr>
          <a:xfrm>
            <a:off x="11652840" y="3008880"/>
            <a:ext cx="3332880" cy="3871080"/>
            <a:chOff x="11652840" y="3008880"/>
            <a:chExt cx="3332880" cy="3871080"/>
          </a:xfrm>
        </p:grpSpPr>
        <p:sp>
          <p:nvSpPr>
            <p:cNvPr id="110" name="Freeform 3"/>
            <p:cNvSpPr/>
            <p:nvPr/>
          </p:nvSpPr>
          <p:spPr>
            <a:xfrm>
              <a:off x="11652840" y="3008880"/>
              <a:ext cx="3316680" cy="3871080"/>
            </a:xfrm>
            <a:custGeom>
              <a:avLst/>
              <a:gdLst/>
              <a:ahLst/>
              <a:rect l="l" t="t" r="r" b="b"/>
              <a:pathLst>
                <a:path w="5439410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Freeform 4"/>
            <p:cNvSpPr/>
            <p:nvPr/>
          </p:nvSpPr>
          <p:spPr>
            <a:xfrm>
              <a:off x="11803680" y="3188520"/>
              <a:ext cx="2981160" cy="2862000"/>
            </a:xfrm>
            <a:custGeom>
              <a:avLst/>
              <a:gdLst/>
              <a:ah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Freeform 5"/>
            <p:cNvSpPr/>
            <p:nvPr/>
          </p:nvSpPr>
          <p:spPr>
            <a:xfrm>
              <a:off x="11653560" y="3012840"/>
              <a:ext cx="3327480" cy="3867120"/>
            </a:xfrm>
            <a:custGeom>
              <a:avLst/>
              <a:gdLst/>
              <a:ah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Freeform 6"/>
            <p:cNvSpPr/>
            <p:nvPr/>
          </p:nvSpPr>
          <p:spPr>
            <a:xfrm>
              <a:off x="11657520" y="3008880"/>
              <a:ext cx="3328200" cy="3868560"/>
            </a:xfrm>
            <a:custGeom>
              <a:avLst/>
              <a:gdLst/>
              <a:ah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ef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4" name="Group 7"/>
          <p:cNvGrpSpPr/>
          <p:nvPr/>
        </p:nvGrpSpPr>
        <p:grpSpPr>
          <a:xfrm>
            <a:off x="7490160" y="2869200"/>
            <a:ext cx="3332880" cy="3871080"/>
            <a:chOff x="7490160" y="2869200"/>
            <a:chExt cx="3332880" cy="3871080"/>
          </a:xfrm>
        </p:grpSpPr>
        <p:sp>
          <p:nvSpPr>
            <p:cNvPr id="115" name="Freeform 8"/>
            <p:cNvSpPr/>
            <p:nvPr/>
          </p:nvSpPr>
          <p:spPr>
            <a:xfrm>
              <a:off x="7490160" y="2869200"/>
              <a:ext cx="3316680" cy="3871080"/>
            </a:xfrm>
            <a:custGeom>
              <a:avLst/>
              <a:gdLst/>
              <a:ahLst/>
              <a:rect l="l" t="t" r="r" b="b"/>
              <a:pathLst>
                <a:path w="5439410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Freeform 9"/>
            <p:cNvSpPr/>
            <p:nvPr/>
          </p:nvSpPr>
          <p:spPr>
            <a:xfrm>
              <a:off x="7641000" y="3048840"/>
              <a:ext cx="2981160" cy="2862000"/>
            </a:xfrm>
            <a:custGeom>
              <a:avLst/>
              <a:gdLst/>
              <a:ah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Freeform 10"/>
            <p:cNvSpPr/>
            <p:nvPr/>
          </p:nvSpPr>
          <p:spPr>
            <a:xfrm>
              <a:off x="7490880" y="2873160"/>
              <a:ext cx="3327480" cy="3867120"/>
            </a:xfrm>
            <a:custGeom>
              <a:avLst/>
              <a:gdLst/>
              <a:ah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Freeform 11"/>
            <p:cNvSpPr/>
            <p:nvPr/>
          </p:nvSpPr>
          <p:spPr>
            <a:xfrm>
              <a:off x="7494840" y="2869200"/>
              <a:ext cx="3328200" cy="3868560"/>
            </a:xfrm>
            <a:custGeom>
              <a:avLst/>
              <a:gdLst/>
              <a:ah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ef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Group 12"/>
          <p:cNvGrpSpPr/>
          <p:nvPr/>
        </p:nvGrpSpPr>
        <p:grpSpPr>
          <a:xfrm>
            <a:off x="3404520" y="2869200"/>
            <a:ext cx="3332880" cy="3871080"/>
            <a:chOff x="3404520" y="2869200"/>
            <a:chExt cx="3332880" cy="3871080"/>
          </a:xfrm>
        </p:grpSpPr>
        <p:sp>
          <p:nvSpPr>
            <p:cNvPr id="120" name="Freeform 13"/>
            <p:cNvSpPr/>
            <p:nvPr/>
          </p:nvSpPr>
          <p:spPr>
            <a:xfrm>
              <a:off x="3404520" y="2869200"/>
              <a:ext cx="3316680" cy="3871080"/>
            </a:xfrm>
            <a:custGeom>
              <a:avLst/>
              <a:gdLst/>
              <a:ahLst/>
              <a:rect l="l" t="t" r="r" b="b"/>
              <a:pathLst>
                <a:path w="5439410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Freeform 14"/>
            <p:cNvSpPr/>
            <p:nvPr/>
          </p:nvSpPr>
          <p:spPr>
            <a:xfrm>
              <a:off x="3555360" y="3048840"/>
              <a:ext cx="2981160" cy="2862000"/>
            </a:xfrm>
            <a:custGeom>
              <a:avLst/>
              <a:gdLst/>
              <a:ah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Freeform 15"/>
            <p:cNvSpPr/>
            <p:nvPr/>
          </p:nvSpPr>
          <p:spPr>
            <a:xfrm>
              <a:off x="3405240" y="2873160"/>
              <a:ext cx="3327480" cy="3867120"/>
            </a:xfrm>
            <a:custGeom>
              <a:avLst/>
              <a:gdLst/>
              <a:ah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Freeform 16"/>
            <p:cNvSpPr/>
            <p:nvPr/>
          </p:nvSpPr>
          <p:spPr>
            <a:xfrm>
              <a:off x="3409200" y="2869200"/>
              <a:ext cx="3328200" cy="3868560"/>
            </a:xfrm>
            <a:custGeom>
              <a:avLst/>
              <a:gdLst/>
              <a:ah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ef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4" name="Freeform 21"/>
          <p:cNvSpPr/>
          <p:nvPr/>
        </p:nvSpPr>
        <p:spPr>
          <a:xfrm flipH="1">
            <a:off x="-360" y="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Box 17"/>
          <p:cNvSpPr/>
          <p:nvPr/>
        </p:nvSpPr>
        <p:spPr>
          <a:xfrm>
            <a:off x="4676760" y="1095480"/>
            <a:ext cx="8934480" cy="21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8527"/>
              </a:lnSpc>
              <a:buNone/>
              <a:tabLst>
                <a:tab algn="l" pos="0"/>
              </a:tabLst>
            </a:pPr>
            <a:r>
              <a:rPr b="0" lang="en-US" sz="768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COMFORMADO POR:</a:t>
            </a:r>
            <a:endParaRPr b="0" lang="es-ES" sz="7680" spc="-1" strike="noStrike">
              <a:latin typeface="Arial"/>
            </a:endParaRPr>
          </a:p>
        </p:txBody>
      </p:sp>
      <p:sp>
        <p:nvSpPr>
          <p:cNvPr id="126" name="TextBox 18"/>
          <p:cNvSpPr/>
          <p:nvPr/>
        </p:nvSpPr>
        <p:spPr>
          <a:xfrm>
            <a:off x="11652840" y="7265160"/>
            <a:ext cx="3605040" cy="22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340"/>
              </a:lnSpc>
              <a:buNone/>
            </a:pPr>
            <a:r>
              <a:rPr b="0" lang="en-US" sz="289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HERNAN DARIO MEDINA NUÑEZ - 2369271</a:t>
            </a:r>
            <a:endParaRPr b="0" lang="es-ES" sz="2890" spc="-1" strike="noStrike">
              <a:latin typeface="Arial"/>
            </a:endParaRPr>
          </a:p>
          <a:p>
            <a:pPr algn="ctr">
              <a:lnSpc>
                <a:spcPts val="4340"/>
              </a:lnSpc>
              <a:buNone/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127" name="TextBox 19"/>
          <p:cNvSpPr/>
          <p:nvPr/>
        </p:nvSpPr>
        <p:spPr>
          <a:xfrm>
            <a:off x="7490160" y="7255800"/>
            <a:ext cx="3584880" cy="171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501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CAMILO PAVAS RIOS - 2360249</a:t>
            </a:r>
            <a:endParaRPr b="0" lang="es-ES" sz="3000" spc="-1" strike="noStrike">
              <a:latin typeface="Arial"/>
            </a:endParaRPr>
          </a:p>
          <a:p>
            <a:pPr algn="ctr">
              <a:lnSpc>
                <a:spcPts val="4501"/>
              </a:lnSpc>
              <a:buNone/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128" name="TextBox 20"/>
          <p:cNvSpPr/>
          <p:nvPr/>
        </p:nvSpPr>
        <p:spPr>
          <a:xfrm>
            <a:off x="2762640" y="7255800"/>
            <a:ext cx="414612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501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ANDRICK BUITRAGO PIEDRAHITA - 2360219</a:t>
            </a:r>
            <a:endParaRPr b="0" lang="es-ES" sz="3000" spc="-1" strike="noStrike">
              <a:latin typeface="Arial"/>
            </a:endParaRPr>
          </a:p>
          <a:p>
            <a:pPr algn="ctr">
              <a:lnSpc>
                <a:spcPts val="4501"/>
              </a:lnSpc>
              <a:buNone/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129" name="Freeform 22"/>
          <p:cNvSpPr/>
          <p:nvPr/>
        </p:nvSpPr>
        <p:spPr>
          <a:xfrm flipV="1">
            <a:off x="11075400" y="720072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0" y="3204754"/>
                </a:moveTo>
                <a:lnTo>
                  <a:pt x="7315200" y="3204754"/>
                </a:lnTo>
                <a:lnTo>
                  <a:pt x="7315200" y="0"/>
                </a:lnTo>
                <a:lnTo>
                  <a:pt x="0" y="0"/>
                </a:lnTo>
                <a:lnTo>
                  <a:pt x="0" y="3204754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2"/>
          <p:cNvSpPr/>
          <p:nvPr/>
        </p:nvSpPr>
        <p:spPr>
          <a:xfrm flipH="1" flipV="1">
            <a:off x="12337200" y="-876600"/>
            <a:ext cx="6102720" cy="4114440"/>
          </a:xfrm>
          <a:custGeom>
            <a:avLst/>
            <a:gdLst/>
            <a:ah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Freeform 3"/>
          <p:cNvSpPr/>
          <p:nvPr/>
        </p:nvSpPr>
        <p:spPr>
          <a:xfrm rot="20427600">
            <a:off x="15132960" y="-1318320"/>
            <a:ext cx="5040000" cy="4114440"/>
          </a:xfrm>
          <a:custGeom>
            <a:avLst/>
            <a:gdLst/>
            <a:ah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Freeform 4"/>
          <p:cNvSpPr/>
          <p:nvPr/>
        </p:nvSpPr>
        <p:spPr>
          <a:xfrm>
            <a:off x="-826560" y="6747840"/>
            <a:ext cx="6102720" cy="4114440"/>
          </a:xfrm>
          <a:custGeom>
            <a:avLst/>
            <a:gdLst/>
            <a:ah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Freeform 5"/>
          <p:cNvSpPr/>
          <p:nvPr/>
        </p:nvSpPr>
        <p:spPr>
          <a:xfrm>
            <a:off x="-281520" y="8397720"/>
            <a:ext cx="2369520" cy="2300400"/>
          </a:xfrm>
          <a:custGeom>
            <a:avLst/>
            <a:gdLst/>
            <a:ah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Freeform 6"/>
          <p:cNvSpPr/>
          <p:nvPr/>
        </p:nvSpPr>
        <p:spPr>
          <a:xfrm>
            <a:off x="2088360" y="738720"/>
            <a:ext cx="14111280" cy="8809200"/>
          </a:xfrm>
          <a:custGeom>
            <a:avLst/>
            <a:gdLst/>
            <a:ah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Box 7"/>
          <p:cNvSpPr/>
          <p:nvPr/>
        </p:nvSpPr>
        <p:spPr>
          <a:xfrm>
            <a:off x="1028880" y="1649520"/>
            <a:ext cx="16257960" cy="87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4898"/>
              </a:lnSpc>
              <a:buNone/>
            </a:pPr>
            <a:r>
              <a:rPr b="0" lang="en-US" sz="35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¡Bienvenidos! Hoy quiero llevarlos a través de una historia de transformación en la panadería PAN Y ARTE. Un sector donde la precisión y la eficiencia marcan la diferencia, hemos utilizado el poder del análisis de datos para demostrar que no se necesita incrementar costos para mejorar la productividad. </a:t>
            </a:r>
            <a:endParaRPr b="0" lang="es-ES" sz="3500" spc="-1" strike="noStrike">
              <a:latin typeface="Arial"/>
            </a:endParaRPr>
          </a:p>
          <a:p>
            <a:pPr algn="just">
              <a:lnSpc>
                <a:spcPts val="4898"/>
              </a:lnSpc>
              <a:buNone/>
            </a:pPr>
            <a:r>
              <a:rPr b="0" lang="en-US" sz="35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¿Sabían que pequeños ajustes en la gestión de la materia prima pueden generar grandes cambios en las ganancias?. En esta presentación, les mostraremos cómo es posible predecir ventas, reducir desperdicios y maximizar el uso de materias primas, permitiendo no solo que una panadería sobreviva, sino que prospere.</a:t>
            </a:r>
            <a:endParaRPr b="0" lang="es-ES" sz="3500" spc="-1" strike="noStrike">
              <a:latin typeface="Arial"/>
            </a:endParaRPr>
          </a:p>
          <a:p>
            <a:pPr algn="just">
              <a:lnSpc>
                <a:spcPts val="4898"/>
              </a:lnSpc>
              <a:buNone/>
            </a:pPr>
            <a:r>
              <a:rPr b="0" lang="en-US" sz="35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Así que acompáñenos a descubrir cómo la magia de los números puede elevar la tradición panadera a nuevos niveles de eficiencia y rentabilidad. ¡Les aseguro que después de esto, nunca volverán a ver un croissant de la misma manera!</a:t>
            </a:r>
            <a:endParaRPr b="0" lang="es-ES" sz="3500" spc="-1" strike="noStrike"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4641840" y="738720"/>
            <a:ext cx="843840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5522"/>
              </a:lnSpc>
              <a:buNone/>
            </a:pPr>
            <a:r>
              <a:rPr b="0" lang="en-US" sz="6340" spc="60" strike="noStrike">
                <a:solidFill>
                  <a:srgbClr val="000000"/>
                </a:solidFill>
                <a:latin typeface="Dynapuff Condensed"/>
                <a:ea typeface="Dynapuff Condensed"/>
              </a:rPr>
              <a:t>INTRODUCCIÓN</a:t>
            </a:r>
            <a:endParaRPr b="0" lang="es-ES" sz="634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 2"/>
          <p:cNvSpPr/>
          <p:nvPr/>
        </p:nvSpPr>
        <p:spPr>
          <a:xfrm rot="1175400">
            <a:off x="-4985280" y="4874400"/>
            <a:ext cx="6516720" cy="6217920"/>
          </a:xfrm>
          <a:custGeom>
            <a:avLst/>
            <a:gdLst/>
            <a:ahLst/>
            <a:rect l="l" t="t" r="r" b="b"/>
            <a:pathLst>
              <a:path w="6516917" h="6218334">
                <a:moveTo>
                  <a:pt x="0" y="0"/>
                </a:moveTo>
                <a:lnTo>
                  <a:pt x="6516917" y="0"/>
                </a:lnTo>
                <a:lnTo>
                  <a:pt x="6516917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Freeform 3"/>
          <p:cNvSpPr/>
          <p:nvPr/>
        </p:nvSpPr>
        <p:spPr>
          <a:xfrm rot="1175400">
            <a:off x="16567560" y="4874400"/>
            <a:ext cx="6516720" cy="6217920"/>
          </a:xfrm>
          <a:custGeom>
            <a:avLst/>
            <a:gdLst/>
            <a:ahLst/>
            <a:rect l="l" t="t" r="r" b="b"/>
            <a:pathLst>
              <a:path w="6516917" h="6218334">
                <a:moveTo>
                  <a:pt x="0" y="0"/>
                </a:moveTo>
                <a:lnTo>
                  <a:pt x="6516918" y="0"/>
                </a:lnTo>
                <a:lnTo>
                  <a:pt x="6516918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Box 4"/>
          <p:cNvSpPr/>
          <p:nvPr/>
        </p:nvSpPr>
        <p:spPr>
          <a:xfrm>
            <a:off x="3776760" y="538920"/>
            <a:ext cx="10398600" cy="8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6693"/>
              </a:lnSpc>
              <a:buNone/>
              <a:tabLst>
                <a:tab algn="l" pos="0"/>
              </a:tabLst>
            </a:pPr>
            <a:r>
              <a:rPr b="0" lang="en-US" sz="744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PROBLEMATICA</a:t>
            </a:r>
            <a:endParaRPr b="0" lang="es-ES" sz="7440" spc="-1" strike="noStrike">
              <a:latin typeface="Arial"/>
            </a:endParaRPr>
          </a:p>
        </p:txBody>
      </p:sp>
      <p:sp>
        <p:nvSpPr>
          <p:cNvPr id="140" name="Freeform 5"/>
          <p:cNvSpPr/>
          <p:nvPr/>
        </p:nvSpPr>
        <p:spPr>
          <a:xfrm flipH="1">
            <a:off x="-92520" y="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Box 6"/>
          <p:cNvSpPr/>
          <p:nvPr/>
        </p:nvSpPr>
        <p:spPr>
          <a:xfrm>
            <a:off x="1621440" y="1617840"/>
            <a:ext cx="15218640" cy="11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51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86" strike="noStrike">
                <a:solidFill>
                  <a:srgbClr val="000000"/>
                </a:solidFill>
                <a:latin typeface="Abstracted Dream"/>
                <a:ea typeface="Abstracted Dream"/>
              </a:rPr>
              <a:t>Uno de los principales problemas en la gestión de informes estadísticos en las panaderías es la calidad de los datos.</a:t>
            </a:r>
            <a:endParaRPr b="0" lang="es-ES" sz="3400" spc="-1" strike="noStrike">
              <a:latin typeface="Arial"/>
            </a:endParaRPr>
          </a:p>
          <a:p>
            <a:pPr lvl="1" marL="734040" indent="-367200">
              <a:lnSpc>
                <a:spcPts val="51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86" strike="noStrike">
                <a:solidFill>
                  <a:srgbClr val="000000"/>
                </a:solidFill>
                <a:latin typeface="Abstracted Dream"/>
                <a:ea typeface="Abstracted Dream"/>
              </a:rPr>
              <a:t>Errores Humanos: Los errores de escritura y la mala interpretación de los datos son comunes. Esto puede llevar a registros duplicados o información incorrecta.</a:t>
            </a:r>
            <a:endParaRPr b="0" lang="es-ES" sz="3400" spc="-1" strike="noStrike">
              <a:latin typeface="Arial"/>
            </a:endParaRPr>
          </a:p>
          <a:p>
            <a:pPr lvl="1" marL="734040" indent="-367200">
              <a:lnSpc>
                <a:spcPts val="51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86" strike="noStrike">
                <a:solidFill>
                  <a:srgbClr val="000000"/>
                </a:solidFill>
                <a:latin typeface="Abstracted Dream"/>
                <a:ea typeface="Abstracted Dream"/>
              </a:rPr>
              <a:t>Integración de Fuentes Diversas: La combinación de datos de diferentes fuentes puede introducir inconsistencias y errores.</a:t>
            </a:r>
            <a:endParaRPr b="0" lang="es-ES" sz="3400" spc="-1" strike="noStrike">
              <a:latin typeface="Arial"/>
            </a:endParaRPr>
          </a:p>
          <a:p>
            <a:pPr lvl="1" marL="734040" indent="-367200">
              <a:lnSpc>
                <a:spcPts val="51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86" strike="noStrike">
                <a:solidFill>
                  <a:srgbClr val="000000"/>
                </a:solidFill>
                <a:latin typeface="Abstracted Dream"/>
                <a:ea typeface="Abstracted Dream"/>
              </a:rPr>
              <a:t>Capacitación insuficiente: El personal puede no estar adecuadamente capacitado en la recopilación y análisis de datos, lo que afecta la precisión de los informes y la interpretación de estos.</a:t>
            </a:r>
            <a:endParaRPr b="0" lang="es-ES" sz="3400" spc="-1" strike="noStrike">
              <a:latin typeface="Arial"/>
            </a:endParaRPr>
          </a:p>
          <a:p>
            <a:pPr lvl="1" marL="734040" indent="-367200">
              <a:lnSpc>
                <a:spcPts val="51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86" strike="noStrike">
                <a:solidFill>
                  <a:srgbClr val="000000"/>
                </a:solidFill>
                <a:latin typeface="Abstracted Dream"/>
                <a:ea typeface="Abstracted Dream"/>
              </a:rPr>
              <a:t>Falta de conocimiento sobre herramientas adecuadas: la falta de conocimiento sobre herramientas que ayuden a facilitar las tareas.</a:t>
            </a:r>
            <a:endParaRPr b="0" lang="es-ES" sz="3400" spc="-1" strike="noStrike">
              <a:latin typeface="Arial"/>
            </a:endParaRPr>
          </a:p>
          <a:p>
            <a:pPr lvl="1" marL="734040" indent="-367200">
              <a:lnSpc>
                <a:spcPts val="51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86" strike="noStrike">
                <a:solidFill>
                  <a:srgbClr val="000000"/>
                </a:solidFill>
                <a:latin typeface="Abstracted Dream"/>
                <a:ea typeface="Abstracted Dream"/>
              </a:rPr>
              <a:t>Estos problemas pueden llevar a decisiones empresariales incorrectas y afectar la eficiencia operativa de las panaderías.</a:t>
            </a:r>
            <a:endParaRPr b="0" lang="es-ES" sz="3400" spc="-1" strike="noStrike">
              <a:latin typeface="Arial"/>
            </a:endParaRPr>
          </a:p>
          <a:p>
            <a:pPr>
              <a:lnSpc>
                <a:spcPts val="5100"/>
              </a:lnSpc>
              <a:buNone/>
            </a:pP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reeform 2"/>
          <p:cNvSpPr/>
          <p:nvPr/>
        </p:nvSpPr>
        <p:spPr>
          <a:xfrm rot="1175400">
            <a:off x="-4985280" y="4874400"/>
            <a:ext cx="6516720" cy="6217920"/>
          </a:xfrm>
          <a:custGeom>
            <a:avLst/>
            <a:gdLst/>
            <a:ahLst/>
            <a:rect l="l" t="t" r="r" b="b"/>
            <a:pathLst>
              <a:path w="6516917" h="6218334">
                <a:moveTo>
                  <a:pt x="0" y="0"/>
                </a:moveTo>
                <a:lnTo>
                  <a:pt x="6516917" y="0"/>
                </a:lnTo>
                <a:lnTo>
                  <a:pt x="6516917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Freeform 3"/>
          <p:cNvSpPr/>
          <p:nvPr/>
        </p:nvSpPr>
        <p:spPr>
          <a:xfrm rot="1175400">
            <a:off x="16567560" y="4874400"/>
            <a:ext cx="6516720" cy="6217920"/>
          </a:xfrm>
          <a:custGeom>
            <a:avLst/>
            <a:gdLst/>
            <a:ahLst/>
            <a:rect l="l" t="t" r="r" b="b"/>
            <a:pathLst>
              <a:path w="6516917" h="6218334">
                <a:moveTo>
                  <a:pt x="0" y="0"/>
                </a:moveTo>
                <a:lnTo>
                  <a:pt x="6516918" y="0"/>
                </a:lnTo>
                <a:lnTo>
                  <a:pt x="6516918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Box 4"/>
          <p:cNvSpPr/>
          <p:nvPr/>
        </p:nvSpPr>
        <p:spPr>
          <a:xfrm>
            <a:off x="3776760" y="538920"/>
            <a:ext cx="10398600" cy="8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6693"/>
              </a:lnSpc>
              <a:buNone/>
              <a:tabLst>
                <a:tab algn="l" pos="0"/>
              </a:tabLst>
            </a:pPr>
            <a:r>
              <a:rPr b="0" lang="en-US" sz="744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OBJECTIVOS:</a:t>
            </a:r>
            <a:endParaRPr b="0" lang="es-ES" sz="7440" spc="-1" strike="noStrike">
              <a:latin typeface="Arial"/>
            </a:endParaRPr>
          </a:p>
        </p:txBody>
      </p:sp>
      <p:sp>
        <p:nvSpPr>
          <p:cNvPr id="145" name="Freeform 5"/>
          <p:cNvSpPr/>
          <p:nvPr/>
        </p:nvSpPr>
        <p:spPr>
          <a:xfrm flipH="1">
            <a:off x="-92520" y="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Box 6"/>
          <p:cNvSpPr/>
          <p:nvPr/>
        </p:nvSpPr>
        <p:spPr>
          <a:xfrm>
            <a:off x="1828440" y="1764720"/>
            <a:ext cx="1369188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Demostrar la importancia del análisis de datos en la optimización de los recursos de una panadería</a:t>
            </a:r>
            <a:endParaRPr b="0" lang="es-ES" sz="3400" spc="-1" strike="noStrike">
              <a:latin typeface="Arial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1828440" y="3378240"/>
            <a:ext cx="1350144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Presentar los beneficios de aplicar análisis predictivo en los procesos productivos</a:t>
            </a:r>
            <a:endParaRPr b="0" lang="es-ES" sz="3400" spc="-1" strike="noStrike"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1828440" y="4882320"/>
            <a:ext cx="1369188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Evidenciar la relación entre el control de desperdicios y el aumento de la rentabilidad</a:t>
            </a:r>
            <a:endParaRPr b="0" lang="es-ES" sz="3400" spc="-1" strike="noStrike"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1828440" y="6386760"/>
            <a:ext cx="1350144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Visualizar los resultados obtenidos mediante gráficos y reportes estadísticos</a:t>
            </a:r>
            <a:endParaRPr b="0" lang="es-ES" sz="34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1828440" y="7293600"/>
            <a:ext cx="13501440" cy="18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34040" indent="-3672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4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Convencer a los asistentes de que el análisis de datos no ralentizan los procesos, sino que mejoran la precisión y la toma de decisiones</a:t>
            </a:r>
            <a:endParaRPr b="0" lang="es-ES" sz="3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2"/>
          <p:cNvSpPr/>
          <p:nvPr/>
        </p:nvSpPr>
        <p:spPr>
          <a:xfrm>
            <a:off x="5608080" y="476640"/>
            <a:ext cx="1085760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7438"/>
              </a:lnSpc>
              <a:buNone/>
              <a:tabLst>
                <a:tab algn="l" pos="0"/>
              </a:tabLst>
            </a:pPr>
            <a:r>
              <a:rPr b="0" lang="en-US" sz="619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METODOLOGÍA </a:t>
            </a:r>
            <a:endParaRPr b="0" lang="es-ES" sz="6190" spc="-1" strike="noStrike">
              <a:latin typeface="Arial"/>
            </a:endParaRPr>
          </a:p>
        </p:txBody>
      </p:sp>
      <p:sp>
        <p:nvSpPr>
          <p:cNvPr id="152" name="Freeform 3"/>
          <p:cNvSpPr/>
          <p:nvPr/>
        </p:nvSpPr>
        <p:spPr>
          <a:xfrm flipH="1">
            <a:off x="-108000" y="972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3" name="Group 4"/>
          <p:cNvGrpSpPr/>
          <p:nvPr/>
        </p:nvGrpSpPr>
        <p:grpSpPr>
          <a:xfrm>
            <a:off x="1649520" y="3342960"/>
            <a:ext cx="3753000" cy="3753000"/>
            <a:chOff x="1649520" y="3342960"/>
            <a:chExt cx="3753000" cy="3753000"/>
          </a:xfrm>
        </p:grpSpPr>
        <p:grpSp>
          <p:nvGrpSpPr>
            <p:cNvPr id="154" name="Group 5"/>
            <p:cNvGrpSpPr/>
            <p:nvPr/>
          </p:nvGrpSpPr>
          <p:grpSpPr>
            <a:xfrm>
              <a:off x="1649520" y="3342960"/>
              <a:ext cx="3753000" cy="3753000"/>
              <a:chOff x="1649520" y="3342960"/>
              <a:chExt cx="3753000" cy="3753000"/>
            </a:xfrm>
          </p:grpSpPr>
          <p:sp>
            <p:nvSpPr>
              <p:cNvPr id="155" name="Freeform 6"/>
              <p:cNvSpPr/>
              <p:nvPr/>
            </p:nvSpPr>
            <p:spPr>
              <a:xfrm rot="16200000">
                <a:off x="1649520" y="3342960"/>
                <a:ext cx="3753000" cy="3753000"/>
              </a:xfrm>
              <a:custGeom>
                <a:avLst/>
                <a:gdLst/>
                <a:ah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noFill/>
              <a:ln cap="sq" w="1143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6" name="TextBox 7"/>
              <p:cNvSpPr/>
              <p:nvPr/>
            </p:nvSpPr>
            <p:spPr>
              <a:xfrm rot="16200000">
                <a:off x="2001240" y="3694680"/>
                <a:ext cx="3049200" cy="3049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57" name="Group 8"/>
            <p:cNvGrpSpPr/>
            <p:nvPr/>
          </p:nvGrpSpPr>
          <p:grpSpPr>
            <a:xfrm>
              <a:off x="1847160" y="3548880"/>
              <a:ext cx="3357720" cy="3357720"/>
              <a:chOff x="1847160" y="3548880"/>
              <a:chExt cx="3357720" cy="3357720"/>
            </a:xfrm>
          </p:grpSpPr>
          <p:sp>
            <p:nvSpPr>
              <p:cNvPr id="158" name="Freeform 9"/>
              <p:cNvSpPr/>
              <p:nvPr/>
            </p:nvSpPr>
            <p:spPr>
              <a:xfrm rot="16200000">
                <a:off x="1847160" y="3548880"/>
                <a:ext cx="3357720" cy="3357720"/>
              </a:xfrm>
              <a:custGeom>
                <a:avLst/>
                <a:gdLst/>
                <a:ah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noFill/>
              <a:ln cap="sq" w="28575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9" name="TextBox 10"/>
              <p:cNvSpPr/>
              <p:nvPr/>
            </p:nvSpPr>
            <p:spPr>
              <a:xfrm rot="16200000">
                <a:off x="2162160" y="3863880"/>
                <a:ext cx="2728080" cy="2728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60" name="Group 11"/>
          <p:cNvGrpSpPr/>
          <p:nvPr/>
        </p:nvGrpSpPr>
        <p:grpSpPr>
          <a:xfrm>
            <a:off x="4094640" y="6804720"/>
            <a:ext cx="240480" cy="240480"/>
            <a:chOff x="4094640" y="6804720"/>
            <a:chExt cx="240480" cy="240480"/>
          </a:xfrm>
        </p:grpSpPr>
        <p:sp>
          <p:nvSpPr>
            <p:cNvPr id="161" name="Freeform 12"/>
            <p:cNvSpPr/>
            <p:nvPr/>
          </p:nvSpPr>
          <p:spPr>
            <a:xfrm rot="16200000">
              <a:off x="4094640" y="6804720"/>
              <a:ext cx="240480" cy="2404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260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TextBox 13"/>
            <p:cNvSpPr/>
            <p:nvPr/>
          </p:nvSpPr>
          <p:spPr>
            <a:xfrm rot="16200000">
              <a:off x="4117320" y="6827040"/>
              <a:ext cx="195480" cy="19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3" name="Group 14"/>
          <p:cNvGrpSpPr/>
          <p:nvPr/>
        </p:nvGrpSpPr>
        <p:grpSpPr>
          <a:xfrm>
            <a:off x="5041440" y="5955120"/>
            <a:ext cx="240480" cy="240480"/>
            <a:chOff x="5041440" y="5955120"/>
            <a:chExt cx="240480" cy="240480"/>
          </a:xfrm>
        </p:grpSpPr>
        <p:sp>
          <p:nvSpPr>
            <p:cNvPr id="164" name="Freeform 15"/>
            <p:cNvSpPr/>
            <p:nvPr/>
          </p:nvSpPr>
          <p:spPr>
            <a:xfrm rot="16200000">
              <a:off x="5041440" y="5955120"/>
              <a:ext cx="240480" cy="2404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c3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TextBox 16"/>
            <p:cNvSpPr/>
            <p:nvPr/>
          </p:nvSpPr>
          <p:spPr>
            <a:xfrm rot="16200000">
              <a:off x="5064120" y="5977440"/>
              <a:ext cx="195480" cy="19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6" name="Group 17"/>
          <p:cNvGrpSpPr/>
          <p:nvPr/>
        </p:nvGrpSpPr>
        <p:grpSpPr>
          <a:xfrm>
            <a:off x="5162040" y="4628880"/>
            <a:ext cx="240480" cy="240480"/>
            <a:chOff x="5162040" y="4628880"/>
            <a:chExt cx="240480" cy="240480"/>
          </a:xfrm>
        </p:grpSpPr>
        <p:sp>
          <p:nvSpPr>
            <p:cNvPr id="167" name="Freeform 18"/>
            <p:cNvSpPr/>
            <p:nvPr/>
          </p:nvSpPr>
          <p:spPr>
            <a:xfrm rot="16200000">
              <a:off x="5162040" y="4628880"/>
              <a:ext cx="240480" cy="2404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b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TextBox 19"/>
            <p:cNvSpPr/>
            <p:nvPr/>
          </p:nvSpPr>
          <p:spPr>
            <a:xfrm rot="16200000">
              <a:off x="5184360" y="4651200"/>
              <a:ext cx="195480" cy="19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9" name="Group 20"/>
          <p:cNvGrpSpPr/>
          <p:nvPr/>
        </p:nvGrpSpPr>
        <p:grpSpPr>
          <a:xfrm>
            <a:off x="4525200" y="3674520"/>
            <a:ext cx="240480" cy="240480"/>
            <a:chOff x="4525200" y="3674520"/>
            <a:chExt cx="240480" cy="240480"/>
          </a:xfrm>
        </p:grpSpPr>
        <p:sp>
          <p:nvSpPr>
            <p:cNvPr id="170" name="Freeform 21"/>
            <p:cNvSpPr/>
            <p:nvPr/>
          </p:nvSpPr>
          <p:spPr>
            <a:xfrm rot="16200000">
              <a:off x="4525200" y="3674520"/>
              <a:ext cx="240480" cy="2404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5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TextBox 22"/>
            <p:cNvSpPr/>
            <p:nvPr/>
          </p:nvSpPr>
          <p:spPr>
            <a:xfrm rot="16200000">
              <a:off x="4547880" y="3696840"/>
              <a:ext cx="195480" cy="19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2" name="Group 23"/>
          <p:cNvGrpSpPr/>
          <p:nvPr/>
        </p:nvGrpSpPr>
        <p:grpSpPr>
          <a:xfrm>
            <a:off x="3405600" y="3262680"/>
            <a:ext cx="240480" cy="240480"/>
            <a:chOff x="3405600" y="3262680"/>
            <a:chExt cx="240480" cy="240480"/>
          </a:xfrm>
        </p:grpSpPr>
        <p:sp>
          <p:nvSpPr>
            <p:cNvPr id="173" name="Freeform 24"/>
            <p:cNvSpPr/>
            <p:nvPr/>
          </p:nvSpPr>
          <p:spPr>
            <a:xfrm rot="16200000">
              <a:off x="3405600" y="3262680"/>
              <a:ext cx="240480" cy="2404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edc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TextBox 25"/>
            <p:cNvSpPr/>
            <p:nvPr/>
          </p:nvSpPr>
          <p:spPr>
            <a:xfrm rot="16200000">
              <a:off x="3428280" y="3285000"/>
              <a:ext cx="195480" cy="19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5" name="Group 26"/>
          <p:cNvGrpSpPr/>
          <p:nvPr/>
        </p:nvGrpSpPr>
        <p:grpSpPr>
          <a:xfrm>
            <a:off x="3665520" y="1954440"/>
            <a:ext cx="2378160" cy="517680"/>
            <a:chOff x="3665520" y="1954440"/>
            <a:chExt cx="2378160" cy="517680"/>
          </a:xfrm>
        </p:grpSpPr>
        <p:sp>
          <p:nvSpPr>
            <p:cNvPr id="176" name="Freeform 27"/>
            <p:cNvSpPr/>
            <p:nvPr/>
          </p:nvSpPr>
          <p:spPr>
            <a:xfrm>
              <a:off x="3665520" y="1988280"/>
              <a:ext cx="2378160" cy="483840"/>
            </a:xfrm>
            <a:custGeom>
              <a:avLst/>
              <a:gdLst/>
              <a:ahLst/>
              <a:rect l="l" t="t" r="r" b="b"/>
              <a:pathLst>
                <a:path w="1996620" h="406400">
                  <a:moveTo>
                    <a:pt x="1793420" y="0"/>
                  </a:moveTo>
                  <a:cubicBezTo>
                    <a:pt x="1905644" y="0"/>
                    <a:pt x="1996620" y="90976"/>
                    <a:pt x="1996620" y="203200"/>
                  </a:cubicBezTo>
                  <a:cubicBezTo>
                    <a:pt x="1996620" y="315424"/>
                    <a:pt x="1905644" y="406400"/>
                    <a:pt x="17934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w="1905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TextBox 28"/>
            <p:cNvSpPr/>
            <p:nvPr/>
          </p:nvSpPr>
          <p:spPr>
            <a:xfrm>
              <a:off x="3665520" y="1954440"/>
              <a:ext cx="2378160" cy="51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8" name="Group 29"/>
          <p:cNvGrpSpPr/>
          <p:nvPr/>
        </p:nvGrpSpPr>
        <p:grpSpPr>
          <a:xfrm>
            <a:off x="5774040" y="2887560"/>
            <a:ext cx="2387160" cy="799200"/>
            <a:chOff x="5774040" y="2887560"/>
            <a:chExt cx="2387160" cy="799200"/>
          </a:xfrm>
        </p:grpSpPr>
        <p:sp>
          <p:nvSpPr>
            <p:cNvPr id="179" name="Freeform 30"/>
            <p:cNvSpPr/>
            <p:nvPr/>
          </p:nvSpPr>
          <p:spPr>
            <a:xfrm>
              <a:off x="5774040" y="2921760"/>
              <a:ext cx="2387160" cy="765000"/>
            </a:xfrm>
            <a:custGeom>
              <a:avLst/>
              <a:gdLst/>
              <a:ahLst/>
              <a:rect l="l" t="t" r="r" b="b"/>
              <a:pathLst>
                <a:path w="1996620" h="639996">
                  <a:moveTo>
                    <a:pt x="1793420" y="0"/>
                  </a:moveTo>
                  <a:cubicBezTo>
                    <a:pt x="1905644" y="0"/>
                    <a:pt x="1996620" y="143268"/>
                    <a:pt x="1996620" y="319998"/>
                  </a:cubicBezTo>
                  <a:cubicBezTo>
                    <a:pt x="1996620" y="496728"/>
                    <a:pt x="1905644" y="639996"/>
                    <a:pt x="1793420" y="639996"/>
                  </a:cubicBezTo>
                  <a:lnTo>
                    <a:pt x="203200" y="639996"/>
                  </a:lnTo>
                  <a:cubicBezTo>
                    <a:pt x="90976" y="639996"/>
                    <a:pt x="0" y="496728"/>
                    <a:pt x="0" y="319998"/>
                  </a:cubicBezTo>
                  <a:cubicBezTo>
                    <a:pt x="0" y="143268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w="1905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TextBox 31"/>
            <p:cNvSpPr/>
            <p:nvPr/>
          </p:nvSpPr>
          <p:spPr>
            <a:xfrm>
              <a:off x="5774040" y="2887560"/>
              <a:ext cx="2387160" cy="79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1" name="Group 32"/>
          <p:cNvGrpSpPr/>
          <p:nvPr/>
        </p:nvGrpSpPr>
        <p:grpSpPr>
          <a:xfrm>
            <a:off x="6512400" y="4690440"/>
            <a:ext cx="2178360" cy="518040"/>
            <a:chOff x="6512400" y="4690440"/>
            <a:chExt cx="2178360" cy="518040"/>
          </a:xfrm>
        </p:grpSpPr>
        <p:sp>
          <p:nvSpPr>
            <p:cNvPr id="182" name="Freeform 33"/>
            <p:cNvSpPr/>
            <p:nvPr/>
          </p:nvSpPr>
          <p:spPr>
            <a:xfrm>
              <a:off x="6512400" y="4724640"/>
              <a:ext cx="2178360" cy="483840"/>
            </a:xfrm>
            <a:custGeom>
              <a:avLst/>
              <a:gdLst/>
              <a:ahLst/>
              <a:rect l="l" t="t" r="r" b="b"/>
              <a:pathLst>
                <a:path w="1829137" h="406400">
                  <a:moveTo>
                    <a:pt x="1625937" y="0"/>
                  </a:moveTo>
                  <a:cubicBezTo>
                    <a:pt x="1738161" y="0"/>
                    <a:pt x="1829137" y="90976"/>
                    <a:pt x="1829137" y="203200"/>
                  </a:cubicBezTo>
                  <a:cubicBezTo>
                    <a:pt x="1829137" y="315424"/>
                    <a:pt x="1738161" y="406400"/>
                    <a:pt x="162593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w="1905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TextBox 34"/>
            <p:cNvSpPr/>
            <p:nvPr/>
          </p:nvSpPr>
          <p:spPr>
            <a:xfrm>
              <a:off x="6512400" y="4690440"/>
              <a:ext cx="2178360" cy="51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4" name="Group 35"/>
          <p:cNvGrpSpPr/>
          <p:nvPr/>
        </p:nvGrpSpPr>
        <p:grpSpPr>
          <a:xfrm>
            <a:off x="3081600" y="1710360"/>
            <a:ext cx="937080" cy="937080"/>
            <a:chOff x="3081600" y="1710360"/>
            <a:chExt cx="937080" cy="937080"/>
          </a:xfrm>
        </p:grpSpPr>
        <p:sp>
          <p:nvSpPr>
            <p:cNvPr id="185" name="Freeform 36"/>
            <p:cNvSpPr/>
            <p:nvPr/>
          </p:nvSpPr>
          <p:spPr>
            <a:xfrm rot="16200000">
              <a:off x="3081600" y="1710360"/>
              <a:ext cx="937080" cy="9370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edc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TextBox 37"/>
            <p:cNvSpPr/>
            <p:nvPr/>
          </p:nvSpPr>
          <p:spPr>
            <a:xfrm rot="16200000">
              <a:off x="3169440" y="1798560"/>
              <a:ext cx="761040" cy="76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7" name="Group 38"/>
          <p:cNvGrpSpPr/>
          <p:nvPr/>
        </p:nvGrpSpPr>
        <p:grpSpPr>
          <a:xfrm>
            <a:off x="5499360" y="2771280"/>
            <a:ext cx="937080" cy="937080"/>
            <a:chOff x="5499360" y="2771280"/>
            <a:chExt cx="937080" cy="937080"/>
          </a:xfrm>
        </p:grpSpPr>
        <p:sp>
          <p:nvSpPr>
            <p:cNvPr id="188" name="Freeform 39"/>
            <p:cNvSpPr/>
            <p:nvPr/>
          </p:nvSpPr>
          <p:spPr>
            <a:xfrm rot="16200000">
              <a:off x="5499360" y="2771280"/>
              <a:ext cx="937080" cy="9370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55b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TextBox 40"/>
            <p:cNvSpPr/>
            <p:nvPr/>
          </p:nvSpPr>
          <p:spPr>
            <a:xfrm rot="16200000">
              <a:off x="5587200" y="2859480"/>
              <a:ext cx="761040" cy="76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0" name="Group 41"/>
          <p:cNvGrpSpPr/>
          <p:nvPr/>
        </p:nvGrpSpPr>
        <p:grpSpPr>
          <a:xfrm>
            <a:off x="6043680" y="4474800"/>
            <a:ext cx="937080" cy="937080"/>
            <a:chOff x="6043680" y="4474800"/>
            <a:chExt cx="937080" cy="937080"/>
          </a:xfrm>
        </p:grpSpPr>
        <p:sp>
          <p:nvSpPr>
            <p:cNvPr id="191" name="Freeform 42"/>
            <p:cNvSpPr/>
            <p:nvPr/>
          </p:nvSpPr>
          <p:spPr>
            <a:xfrm rot="16200000">
              <a:off x="6043680" y="4474800"/>
              <a:ext cx="937080" cy="9370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04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TextBox 43"/>
            <p:cNvSpPr/>
            <p:nvPr/>
          </p:nvSpPr>
          <p:spPr>
            <a:xfrm rot="16200000">
              <a:off x="6131880" y="4563000"/>
              <a:ext cx="761040" cy="76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3" name="Group 44"/>
          <p:cNvGrpSpPr/>
          <p:nvPr/>
        </p:nvGrpSpPr>
        <p:grpSpPr>
          <a:xfrm>
            <a:off x="6395760" y="6119640"/>
            <a:ext cx="2383200" cy="518040"/>
            <a:chOff x="6395760" y="6119640"/>
            <a:chExt cx="2383200" cy="518040"/>
          </a:xfrm>
        </p:grpSpPr>
        <p:sp>
          <p:nvSpPr>
            <p:cNvPr id="194" name="Freeform 45"/>
            <p:cNvSpPr/>
            <p:nvPr/>
          </p:nvSpPr>
          <p:spPr>
            <a:xfrm>
              <a:off x="6395760" y="6153840"/>
              <a:ext cx="2383200" cy="483840"/>
            </a:xfrm>
            <a:custGeom>
              <a:avLst/>
              <a:gdLst/>
              <a:ahLst/>
              <a:rect l="l" t="t" r="r" b="b"/>
              <a:pathLst>
                <a:path w="2000867" h="406400">
                  <a:moveTo>
                    <a:pt x="1797667" y="0"/>
                  </a:moveTo>
                  <a:cubicBezTo>
                    <a:pt x="1909891" y="0"/>
                    <a:pt x="2000867" y="90976"/>
                    <a:pt x="2000867" y="203200"/>
                  </a:cubicBezTo>
                  <a:cubicBezTo>
                    <a:pt x="2000867" y="315424"/>
                    <a:pt x="1909891" y="406400"/>
                    <a:pt x="17976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w="1905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TextBox 46"/>
            <p:cNvSpPr/>
            <p:nvPr/>
          </p:nvSpPr>
          <p:spPr>
            <a:xfrm>
              <a:off x="6395760" y="6119640"/>
              <a:ext cx="2383200" cy="51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6" name="Group 47"/>
          <p:cNvGrpSpPr/>
          <p:nvPr/>
        </p:nvGrpSpPr>
        <p:grpSpPr>
          <a:xfrm>
            <a:off x="5927040" y="5927400"/>
            <a:ext cx="937080" cy="937080"/>
            <a:chOff x="5927040" y="5927400"/>
            <a:chExt cx="937080" cy="937080"/>
          </a:xfrm>
        </p:grpSpPr>
        <p:sp>
          <p:nvSpPr>
            <p:cNvPr id="197" name="Freeform 48"/>
            <p:cNvSpPr/>
            <p:nvPr/>
          </p:nvSpPr>
          <p:spPr>
            <a:xfrm rot="16200000">
              <a:off x="5927040" y="5927400"/>
              <a:ext cx="937080" cy="9370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c3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TextBox 49"/>
            <p:cNvSpPr/>
            <p:nvPr/>
          </p:nvSpPr>
          <p:spPr>
            <a:xfrm rot="16200000">
              <a:off x="6014880" y="6015600"/>
              <a:ext cx="761040" cy="76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9" name="Group 50"/>
          <p:cNvGrpSpPr/>
          <p:nvPr/>
        </p:nvGrpSpPr>
        <p:grpSpPr>
          <a:xfrm>
            <a:off x="5008320" y="7772040"/>
            <a:ext cx="2378160" cy="681120"/>
            <a:chOff x="5008320" y="7772040"/>
            <a:chExt cx="2378160" cy="681120"/>
          </a:xfrm>
        </p:grpSpPr>
        <p:sp>
          <p:nvSpPr>
            <p:cNvPr id="200" name="Freeform 51"/>
            <p:cNvSpPr/>
            <p:nvPr/>
          </p:nvSpPr>
          <p:spPr>
            <a:xfrm>
              <a:off x="5008320" y="7806240"/>
              <a:ext cx="2378160" cy="646920"/>
            </a:xfrm>
            <a:custGeom>
              <a:avLst/>
              <a:gdLst/>
              <a:ahLst/>
              <a:rect l="l" t="t" r="r" b="b"/>
              <a:pathLst>
                <a:path w="1996620" h="543361">
                  <a:moveTo>
                    <a:pt x="1793420" y="0"/>
                  </a:moveTo>
                  <a:cubicBezTo>
                    <a:pt x="1905644" y="0"/>
                    <a:pt x="1996620" y="121636"/>
                    <a:pt x="1996620" y="271681"/>
                  </a:cubicBezTo>
                  <a:cubicBezTo>
                    <a:pt x="1996620" y="421726"/>
                    <a:pt x="1905644" y="543361"/>
                    <a:pt x="1793420" y="543361"/>
                  </a:cubicBezTo>
                  <a:lnTo>
                    <a:pt x="203200" y="543361"/>
                  </a:lnTo>
                  <a:cubicBezTo>
                    <a:pt x="90976" y="543361"/>
                    <a:pt x="0" y="421726"/>
                    <a:pt x="0" y="271681"/>
                  </a:cubicBezTo>
                  <a:cubicBezTo>
                    <a:pt x="0" y="121636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w="1905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TextBox 52"/>
            <p:cNvSpPr/>
            <p:nvPr/>
          </p:nvSpPr>
          <p:spPr>
            <a:xfrm>
              <a:off x="5008320" y="7772040"/>
              <a:ext cx="2378160" cy="68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2" name="Group 53"/>
          <p:cNvGrpSpPr/>
          <p:nvPr/>
        </p:nvGrpSpPr>
        <p:grpSpPr>
          <a:xfrm>
            <a:off x="4593600" y="7608960"/>
            <a:ext cx="937080" cy="937080"/>
            <a:chOff x="4593600" y="7608960"/>
            <a:chExt cx="937080" cy="937080"/>
          </a:xfrm>
        </p:grpSpPr>
        <p:sp>
          <p:nvSpPr>
            <p:cNvPr id="203" name="Freeform 54"/>
            <p:cNvSpPr/>
            <p:nvPr/>
          </p:nvSpPr>
          <p:spPr>
            <a:xfrm rot="16200000">
              <a:off x="4593600" y="7608960"/>
              <a:ext cx="937080" cy="9370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260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TextBox 55"/>
            <p:cNvSpPr/>
            <p:nvPr/>
          </p:nvSpPr>
          <p:spPr>
            <a:xfrm rot="16200000">
              <a:off x="4681440" y="7697160"/>
              <a:ext cx="761040" cy="76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5" name="Freeform 56"/>
          <p:cNvSpPr/>
          <p:nvPr/>
        </p:nvSpPr>
        <p:spPr>
          <a:xfrm>
            <a:off x="6057360" y="6050880"/>
            <a:ext cx="676080" cy="658800"/>
          </a:xfrm>
          <a:custGeom>
            <a:avLst/>
            <a:gdLst/>
            <a:ahLst/>
            <a:rect l="l" t="t" r="r" b="b"/>
            <a:pathLst>
              <a:path w="676542" h="659320">
                <a:moveTo>
                  <a:pt x="0" y="0"/>
                </a:moveTo>
                <a:lnTo>
                  <a:pt x="676541" y="0"/>
                </a:lnTo>
                <a:lnTo>
                  <a:pt x="676541" y="659320"/>
                </a:lnTo>
                <a:lnTo>
                  <a:pt x="0" y="659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Freeform 57"/>
          <p:cNvSpPr/>
          <p:nvPr/>
        </p:nvSpPr>
        <p:spPr>
          <a:xfrm>
            <a:off x="3231000" y="1851840"/>
            <a:ext cx="638280" cy="586080"/>
          </a:xfrm>
          <a:custGeom>
            <a:avLst/>
            <a:gdLst/>
            <a:ahLst/>
            <a:rect l="l" t="t" r="r" b="b"/>
            <a:pathLst>
              <a:path w="638723" h="586463">
                <a:moveTo>
                  <a:pt x="0" y="0"/>
                </a:moveTo>
                <a:lnTo>
                  <a:pt x="638723" y="0"/>
                </a:lnTo>
                <a:lnTo>
                  <a:pt x="638723" y="586463"/>
                </a:lnTo>
                <a:lnTo>
                  <a:pt x="0" y="5864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Freeform 58"/>
          <p:cNvSpPr/>
          <p:nvPr/>
        </p:nvSpPr>
        <p:spPr>
          <a:xfrm>
            <a:off x="5650920" y="2948400"/>
            <a:ext cx="599040" cy="582840"/>
          </a:xfrm>
          <a:custGeom>
            <a:avLst/>
            <a:gdLst/>
            <a:ahLst/>
            <a:rect l="l" t="t" r="r" b="b"/>
            <a:pathLst>
              <a:path w="599433" h="583085">
                <a:moveTo>
                  <a:pt x="0" y="0"/>
                </a:moveTo>
                <a:lnTo>
                  <a:pt x="599433" y="0"/>
                </a:lnTo>
                <a:lnTo>
                  <a:pt x="599433" y="583085"/>
                </a:lnTo>
                <a:lnTo>
                  <a:pt x="0" y="583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Freeform 59"/>
          <p:cNvSpPr/>
          <p:nvPr/>
        </p:nvSpPr>
        <p:spPr>
          <a:xfrm>
            <a:off x="6192000" y="4640760"/>
            <a:ext cx="621720" cy="567360"/>
          </a:xfrm>
          <a:custGeom>
            <a:avLst/>
            <a:gdLst/>
            <a:ahLst/>
            <a:rect l="l" t="t" r="r" b="b"/>
            <a:pathLst>
              <a:path w="622163" h="567866">
                <a:moveTo>
                  <a:pt x="0" y="0"/>
                </a:moveTo>
                <a:lnTo>
                  <a:pt x="622164" y="0"/>
                </a:lnTo>
                <a:lnTo>
                  <a:pt x="622164" y="567865"/>
                </a:lnTo>
                <a:lnTo>
                  <a:pt x="0" y="5678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Freeform 60"/>
          <p:cNvSpPr/>
          <p:nvPr/>
        </p:nvSpPr>
        <p:spPr>
          <a:xfrm>
            <a:off x="4766040" y="7713360"/>
            <a:ext cx="591840" cy="692280"/>
          </a:xfrm>
          <a:custGeom>
            <a:avLst/>
            <a:gdLst/>
            <a:ahLst/>
            <a:rect l="l" t="t" r="r" b="b"/>
            <a:pathLst>
              <a:path w="592045" h="692818">
                <a:moveTo>
                  <a:pt x="0" y="0"/>
                </a:moveTo>
                <a:lnTo>
                  <a:pt x="592045" y="0"/>
                </a:lnTo>
                <a:lnTo>
                  <a:pt x="592045" y="692819"/>
                </a:lnTo>
                <a:lnTo>
                  <a:pt x="0" y="6928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Freeform 61"/>
          <p:cNvSpPr/>
          <p:nvPr/>
        </p:nvSpPr>
        <p:spPr>
          <a:xfrm>
            <a:off x="5523840" y="4690800"/>
            <a:ext cx="411480" cy="240840"/>
          </a:xfrm>
          <a:custGeom>
            <a:avLst/>
            <a:gdLst/>
            <a:ahLst/>
            <a:rect l="l" t="t" r="r" b="b"/>
            <a:pathLst>
              <a:path w="411914" h="241178">
                <a:moveTo>
                  <a:pt x="0" y="0"/>
                </a:moveTo>
                <a:lnTo>
                  <a:pt x="411914" y="0"/>
                </a:lnTo>
                <a:lnTo>
                  <a:pt x="411914" y="241178"/>
                </a:lnTo>
                <a:lnTo>
                  <a:pt x="0" y="2411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Box 62"/>
          <p:cNvSpPr/>
          <p:nvPr/>
        </p:nvSpPr>
        <p:spPr>
          <a:xfrm>
            <a:off x="6247800" y="1938960"/>
            <a:ext cx="584964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29"/>
              </a:lnSpc>
              <a:buNone/>
            </a:pPr>
            <a:r>
              <a:rPr b="0" lang="en-US" sz="1510" spc="60" strike="noStrike">
                <a:solidFill>
                  <a:srgbClr val="000000"/>
                </a:solidFill>
                <a:latin typeface="Balsamiq Sans"/>
                <a:ea typeface="Balsamiq Sans"/>
              </a:rPr>
              <a:t>Microsoft Excel sera la herramienta principal para registrar y analizar la información proveniente del inventario</a:t>
            </a:r>
            <a:endParaRPr b="0" lang="es-ES" sz="1510" spc="-1" strike="noStrike">
              <a:latin typeface="Arial"/>
            </a:endParaRPr>
          </a:p>
        </p:txBody>
      </p:sp>
      <p:sp>
        <p:nvSpPr>
          <p:cNvPr id="212" name="TextBox 63"/>
          <p:cNvSpPr/>
          <p:nvPr/>
        </p:nvSpPr>
        <p:spPr>
          <a:xfrm>
            <a:off x="8542440" y="2847960"/>
            <a:ext cx="78591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26"/>
              </a:lnSpc>
              <a:buNone/>
            </a:pPr>
            <a:r>
              <a:rPr b="0" lang="en-US" sz="1500" spc="60" strike="noStrike">
                <a:solidFill>
                  <a:srgbClr val="000000"/>
                </a:solidFill>
                <a:latin typeface="Balsamiq Sans"/>
                <a:ea typeface="Balsamiq Sans"/>
              </a:rPr>
              <a:t>Los datos incluyen variables cuantitativas (como cantidades de materia prima, ventas, desperdicio) y cualitativas (como satisfacción del cliente y metodología de pago), serán suministrados principalmente, por facturas entregadas por la panadería y una serie de encuestas de satisfacción 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213" name="TextBox 64"/>
          <p:cNvSpPr/>
          <p:nvPr/>
        </p:nvSpPr>
        <p:spPr>
          <a:xfrm>
            <a:off x="8920440" y="4307040"/>
            <a:ext cx="7913160" cy="13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26"/>
              </a:lnSpc>
              <a:buNone/>
            </a:pPr>
            <a:r>
              <a:rPr b="0" lang="en-US" sz="1500" spc="60" strike="noStrike">
                <a:solidFill>
                  <a:srgbClr val="000000"/>
                </a:solidFill>
                <a:latin typeface="Balsamiq Sans"/>
                <a:ea typeface="Balsamiq Sans"/>
              </a:rPr>
              <a:t>Calcularemos estadísticas básicas como el promedio, mediana, desviación estándar y rango para evaluar el comportamiento de las ventas y el desperdicio de insumos.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endParaRPr b="0" lang="es-ES" sz="18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r>
              <a:rPr b="0" lang="en-US" sz="1500" spc="60" strike="noStrike">
                <a:solidFill>
                  <a:srgbClr val="000000"/>
                </a:solidFill>
                <a:latin typeface="Balsamiq Sans"/>
                <a:ea typeface="Balsamiq Sans"/>
              </a:rPr>
              <a:t>Identificaremos patrones de consumo y ventas mediante el uso de análisis univariados, tales como histogramas y gráficos de barras.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214" name="TextBox 65"/>
          <p:cNvSpPr/>
          <p:nvPr/>
        </p:nvSpPr>
        <p:spPr>
          <a:xfrm>
            <a:off x="7732800" y="7562880"/>
            <a:ext cx="9889200" cy="19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26"/>
              </a:lnSpc>
              <a:buNone/>
            </a:pPr>
            <a:r>
              <a:rPr b="0" lang="en-US" sz="1500" spc="60" strike="noStrike">
                <a:solidFill>
                  <a:srgbClr val="000000"/>
                </a:solidFill>
                <a:latin typeface="Balsamiq Sans"/>
                <a:ea typeface="Balsamiq Sans"/>
              </a:rPr>
              <a:t>Los Resultados se visualizaran en gráficos del siguiente tipo:</a:t>
            </a:r>
            <a:endParaRPr b="0" lang="es-ES" sz="15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endParaRPr b="0" lang="es-ES" sz="18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r>
              <a:rPr b="0" lang="en-US" sz="1500" spc="60" strike="noStrike">
                <a:solidFill>
                  <a:srgbClr val="000000"/>
                </a:solidFill>
                <a:latin typeface="Balsamiq Sans"/>
                <a:ea typeface="Balsamiq Sans"/>
              </a:rPr>
              <a:t>1.Gráficos de barras:El histograma nos permite visualizar con varias barras verticales la distribución de los valores de una variable numérica</a:t>
            </a:r>
            <a:endParaRPr b="0" lang="es-ES" sz="15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endParaRPr b="0" lang="es-ES" sz="18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r>
              <a:rPr b="0" lang="en-US" sz="1500" spc="60" strike="noStrike">
                <a:solidFill>
                  <a:srgbClr val="000000"/>
                </a:solidFill>
                <a:latin typeface="Balsamiq Sans"/>
                <a:ea typeface="Balsamiq Sans"/>
              </a:rPr>
              <a:t>2.Gráficos de líneas: se utiliza normalmente para visualizar la tendencia de una variable numérica en el tiempo</a:t>
            </a:r>
            <a:endParaRPr b="0" lang="es-ES" sz="15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endParaRPr b="0" lang="es-ES" sz="1800" spc="-1" strike="noStrike">
              <a:latin typeface="Arial"/>
            </a:endParaRPr>
          </a:p>
          <a:p>
            <a:pPr>
              <a:lnSpc>
                <a:spcPts val="1726"/>
              </a:lnSpc>
              <a:buNone/>
            </a:pPr>
            <a:r>
              <a:rPr b="0" lang="en-US" sz="1500" spc="60" strike="noStrike">
                <a:solidFill>
                  <a:srgbClr val="000000"/>
                </a:solidFill>
                <a:latin typeface="Balsamiq Sans"/>
                <a:ea typeface="Balsamiq Sans"/>
              </a:rPr>
              <a:t>3. Gráfica de cajas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215" name="TextBox 66"/>
          <p:cNvSpPr/>
          <p:nvPr/>
        </p:nvSpPr>
        <p:spPr>
          <a:xfrm>
            <a:off x="8920440" y="5783760"/>
            <a:ext cx="8701560" cy="13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21"/>
              </a:lnSpc>
              <a:buNone/>
            </a:pPr>
            <a:r>
              <a:rPr b="0" lang="en-US" sz="1490" spc="60" strike="noStrike">
                <a:solidFill>
                  <a:srgbClr val="000000"/>
                </a:solidFill>
                <a:latin typeface="Balsamiq Sans"/>
                <a:ea typeface="Balsamiq Sans"/>
              </a:rPr>
              <a:t>1.analizar la información proveniente del software de inventario</a:t>
            </a:r>
            <a:endParaRPr b="0" lang="es-ES" sz="1490" spc="-1" strike="noStrike">
              <a:latin typeface="Arial"/>
            </a:endParaRPr>
          </a:p>
          <a:p>
            <a:pPr>
              <a:lnSpc>
                <a:spcPts val="1721"/>
              </a:lnSpc>
              <a:buNone/>
            </a:pPr>
            <a:endParaRPr b="0" lang="es-ES" sz="1800" spc="-1" strike="noStrike">
              <a:latin typeface="Arial"/>
            </a:endParaRPr>
          </a:p>
          <a:p>
            <a:pPr>
              <a:lnSpc>
                <a:spcPts val="1721"/>
              </a:lnSpc>
              <a:buNone/>
            </a:pPr>
            <a:r>
              <a:rPr b="0" lang="en-US" sz="1490" spc="60" strike="noStrike">
                <a:solidFill>
                  <a:srgbClr val="000000"/>
                </a:solidFill>
                <a:latin typeface="Balsamiq Sans"/>
                <a:ea typeface="Balsamiq Sans"/>
              </a:rPr>
              <a:t>2.calcular métricas estadísticas como promedio, desviación estándar y porcentajes de desperdicio</a:t>
            </a:r>
            <a:endParaRPr b="0" lang="es-ES" sz="1490" spc="-1" strike="noStrike">
              <a:latin typeface="Arial"/>
            </a:endParaRPr>
          </a:p>
          <a:p>
            <a:pPr>
              <a:lnSpc>
                <a:spcPts val="1721"/>
              </a:lnSpc>
              <a:buNone/>
            </a:pPr>
            <a:endParaRPr b="0" lang="es-ES" sz="1800" spc="-1" strike="noStrike">
              <a:latin typeface="Arial"/>
            </a:endParaRPr>
          </a:p>
          <a:p>
            <a:pPr>
              <a:lnSpc>
                <a:spcPts val="1721"/>
              </a:lnSpc>
              <a:buNone/>
            </a:pPr>
            <a:r>
              <a:rPr b="0" lang="en-US" sz="1490" spc="60" strike="noStrike">
                <a:solidFill>
                  <a:srgbClr val="000000"/>
                </a:solidFill>
                <a:latin typeface="Balsamiq Sans"/>
                <a:ea typeface="Balsamiq Sans"/>
              </a:rPr>
              <a:t>3. visualizar los resultados en gráficos</a:t>
            </a:r>
            <a:endParaRPr b="0" lang="es-ES" sz="1490" spc="-1" strike="noStrike">
              <a:latin typeface="Arial"/>
            </a:endParaRPr>
          </a:p>
        </p:txBody>
      </p:sp>
      <p:sp>
        <p:nvSpPr>
          <p:cNvPr id="216" name="TextBox 67"/>
          <p:cNvSpPr/>
          <p:nvPr/>
        </p:nvSpPr>
        <p:spPr>
          <a:xfrm>
            <a:off x="6864480" y="6294960"/>
            <a:ext cx="205560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18"/>
              </a:lnSpc>
              <a:buNone/>
            </a:pPr>
            <a:r>
              <a:rPr b="1" lang="en-US" sz="1640" spc="-1" strike="noStrike">
                <a:solidFill>
                  <a:srgbClr val="000000"/>
                </a:solidFill>
                <a:latin typeface="Oswald Bold"/>
                <a:ea typeface="Oswald Bold"/>
              </a:rPr>
              <a:t>04.FUNCIONALIDADES</a:t>
            </a:r>
            <a:endParaRPr b="0" lang="es-ES" sz="1640" spc="-1" strike="noStrike">
              <a:latin typeface="Arial"/>
            </a:endParaRPr>
          </a:p>
        </p:txBody>
      </p:sp>
      <p:sp>
        <p:nvSpPr>
          <p:cNvPr id="217" name="TextBox 68"/>
          <p:cNvSpPr/>
          <p:nvPr/>
        </p:nvSpPr>
        <p:spPr>
          <a:xfrm>
            <a:off x="5688720" y="7853760"/>
            <a:ext cx="1710000" cy="87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18"/>
              </a:lnSpc>
              <a:buNone/>
            </a:pPr>
            <a:r>
              <a:rPr b="1" lang="en-US" sz="1640" spc="-1" strike="noStrike">
                <a:solidFill>
                  <a:srgbClr val="000000"/>
                </a:solidFill>
                <a:latin typeface="Oswald Bold"/>
                <a:ea typeface="Oswald Bold"/>
              </a:rPr>
              <a:t>04. VISUALIZACION DE RESULTADOS</a:t>
            </a:r>
            <a:endParaRPr b="0" lang="es-ES" sz="1640" spc="-1" strike="noStrike">
              <a:latin typeface="Arial"/>
            </a:endParaRPr>
          </a:p>
        </p:txBody>
      </p:sp>
      <p:sp>
        <p:nvSpPr>
          <p:cNvPr id="218" name="TextBox 69"/>
          <p:cNvSpPr/>
          <p:nvPr/>
        </p:nvSpPr>
        <p:spPr>
          <a:xfrm>
            <a:off x="7114680" y="4759560"/>
            <a:ext cx="15955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18"/>
              </a:lnSpc>
              <a:buNone/>
            </a:pPr>
            <a:r>
              <a:rPr b="1" lang="en-US" sz="1640" spc="-1" strike="noStrike">
                <a:solidFill>
                  <a:srgbClr val="000000"/>
                </a:solidFill>
                <a:latin typeface="Oswald Bold"/>
                <a:ea typeface="Oswald Bold"/>
              </a:rPr>
              <a:t>03. ANÁLISIS DESCRIPTIVA</a:t>
            </a:r>
            <a:endParaRPr b="0" lang="es-ES" sz="1640" spc="-1" strike="noStrike">
              <a:latin typeface="Arial"/>
            </a:endParaRPr>
          </a:p>
        </p:txBody>
      </p:sp>
      <p:sp>
        <p:nvSpPr>
          <p:cNvPr id="219" name="TextBox 70"/>
          <p:cNvSpPr/>
          <p:nvPr/>
        </p:nvSpPr>
        <p:spPr>
          <a:xfrm>
            <a:off x="6507360" y="3004200"/>
            <a:ext cx="1523880" cy="87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18"/>
              </a:lnSpc>
              <a:buNone/>
            </a:pPr>
            <a:r>
              <a:rPr b="1" lang="en-US" sz="1640" spc="-1" strike="noStrike">
                <a:solidFill>
                  <a:srgbClr val="000000"/>
                </a:solidFill>
                <a:latin typeface="Oswald Bold"/>
                <a:ea typeface="Oswald Bold"/>
              </a:rPr>
              <a:t>02. MÉTODO DE RECOLECCIÓN DE DATOS</a:t>
            </a:r>
            <a:endParaRPr b="0" lang="es-ES" sz="1640" spc="-1" strike="noStrike">
              <a:latin typeface="Arial"/>
            </a:endParaRPr>
          </a:p>
        </p:txBody>
      </p:sp>
      <p:sp>
        <p:nvSpPr>
          <p:cNvPr id="220" name="TextBox 71"/>
          <p:cNvSpPr/>
          <p:nvPr/>
        </p:nvSpPr>
        <p:spPr>
          <a:xfrm>
            <a:off x="4142160" y="2112840"/>
            <a:ext cx="1710000" cy="6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718"/>
              </a:lnSpc>
              <a:buNone/>
            </a:pPr>
            <a:r>
              <a:rPr b="1" lang="en-US" sz="1640" spc="-1" strike="noStrike">
                <a:solidFill>
                  <a:srgbClr val="000000"/>
                </a:solidFill>
                <a:latin typeface="Oswald Bold"/>
                <a:ea typeface="Oswald Bold"/>
              </a:rPr>
              <a:t>01. HERRAMIENTAS</a:t>
            </a:r>
            <a:endParaRPr b="0" lang="es-ES" sz="1640" spc="-1" strike="noStrike">
              <a:latin typeface="Arial"/>
            </a:endParaRPr>
          </a:p>
        </p:txBody>
      </p:sp>
      <p:sp>
        <p:nvSpPr>
          <p:cNvPr id="221" name="Freeform 72"/>
          <p:cNvSpPr/>
          <p:nvPr/>
        </p:nvSpPr>
        <p:spPr>
          <a:xfrm rot="864000">
            <a:off x="5381640" y="6033240"/>
            <a:ext cx="392760" cy="240840"/>
          </a:xfrm>
          <a:custGeom>
            <a:avLst/>
            <a:gdLst/>
            <a:ahLst/>
            <a:rect l="l" t="t" r="r" b="b"/>
            <a:pathLst>
              <a:path w="393243" h="241178">
                <a:moveTo>
                  <a:pt x="0" y="0"/>
                </a:moveTo>
                <a:lnTo>
                  <a:pt x="393243" y="0"/>
                </a:lnTo>
                <a:lnTo>
                  <a:pt x="393243" y="241179"/>
                </a:lnTo>
                <a:lnTo>
                  <a:pt x="0" y="2411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Freeform 73"/>
          <p:cNvSpPr/>
          <p:nvPr/>
        </p:nvSpPr>
        <p:spPr>
          <a:xfrm rot="2932200">
            <a:off x="4331520" y="7214400"/>
            <a:ext cx="424080" cy="240840"/>
          </a:xfrm>
          <a:custGeom>
            <a:avLst/>
            <a:gdLst/>
            <a:ahLst/>
            <a:rect l="l" t="t" r="r" b="b"/>
            <a:pathLst>
              <a:path w="424578" h="241178">
                <a:moveTo>
                  <a:pt x="0" y="0"/>
                </a:moveTo>
                <a:lnTo>
                  <a:pt x="424578" y="0"/>
                </a:lnTo>
                <a:lnTo>
                  <a:pt x="424578" y="241178"/>
                </a:lnTo>
                <a:lnTo>
                  <a:pt x="0" y="2411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Freeform 74"/>
          <p:cNvSpPr/>
          <p:nvPr/>
        </p:nvSpPr>
        <p:spPr>
          <a:xfrm rot="20089200">
            <a:off x="4805640" y="3419280"/>
            <a:ext cx="431640" cy="240840"/>
          </a:xfrm>
          <a:custGeom>
            <a:avLst/>
            <a:gdLst/>
            <a:ahLst/>
            <a:rect l="l" t="t" r="r" b="b"/>
            <a:pathLst>
              <a:path w="431897" h="241178">
                <a:moveTo>
                  <a:pt x="0" y="0"/>
                </a:moveTo>
                <a:lnTo>
                  <a:pt x="431897" y="0"/>
                </a:lnTo>
                <a:lnTo>
                  <a:pt x="431897" y="241178"/>
                </a:lnTo>
                <a:lnTo>
                  <a:pt x="0" y="2411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Freeform 75"/>
          <p:cNvSpPr/>
          <p:nvPr/>
        </p:nvSpPr>
        <p:spPr>
          <a:xfrm rot="16200000">
            <a:off x="3330000" y="2818080"/>
            <a:ext cx="436680" cy="240840"/>
          </a:xfrm>
          <a:custGeom>
            <a:avLst/>
            <a:gdLst/>
            <a:ahLst/>
            <a:rect l="l" t="t" r="r" b="b"/>
            <a:pathLst>
              <a:path w="437025" h="241178">
                <a:moveTo>
                  <a:pt x="0" y="0"/>
                </a:moveTo>
                <a:lnTo>
                  <a:pt x="437025" y="0"/>
                </a:lnTo>
                <a:lnTo>
                  <a:pt x="437025" y="241178"/>
                </a:lnTo>
                <a:lnTo>
                  <a:pt x="0" y="2411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2"/>
          <p:cNvSpPr/>
          <p:nvPr/>
        </p:nvSpPr>
        <p:spPr>
          <a:xfrm>
            <a:off x="6800040" y="2210760"/>
            <a:ext cx="11064240" cy="66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731"/>
              </a:lnSpc>
              <a:buNone/>
            </a:pPr>
            <a:r>
              <a:rPr b="0" lang="en-US" sz="338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Tipo de Investigación: Este estudio se clasifica como una investigación mixta. Se basa en la observación y análisis de datos históricos de ventas, producción y consumo de materia prima en la panadería PAN Y ARTE. Los datos se recopilarán mediante el uso de Microsoft Excel como herramienta principal para registrar y analizar el inventario; las variables asociadas al consumo de materia prima y ventas diarias. Se demostrará que todas estas variables están estrechamente relacionadas entre sí. </a:t>
            </a:r>
            <a:endParaRPr b="0" lang="es-ES" sz="3380" spc="-1" strike="noStrike">
              <a:latin typeface="Arial"/>
            </a:endParaRPr>
          </a:p>
        </p:txBody>
      </p:sp>
      <p:sp>
        <p:nvSpPr>
          <p:cNvPr id="226" name="Freeform 3"/>
          <p:cNvSpPr/>
          <p:nvPr/>
        </p:nvSpPr>
        <p:spPr>
          <a:xfrm flipH="1" rot="17937000">
            <a:off x="-2861640" y="51444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Box 4"/>
          <p:cNvSpPr/>
          <p:nvPr/>
        </p:nvSpPr>
        <p:spPr>
          <a:xfrm>
            <a:off x="1945440" y="451440"/>
            <a:ext cx="8799120" cy="29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7801"/>
              </a:lnSpc>
              <a:buNone/>
            </a:pPr>
            <a:r>
              <a:rPr b="0" lang="en-US" sz="650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TIPO DE INVESTIGACIÓN </a:t>
            </a:r>
            <a:endParaRPr b="0" lang="es-ES" sz="6500" spc="-1" strike="noStrike">
              <a:latin typeface="Arial"/>
            </a:endParaRPr>
          </a:p>
          <a:p>
            <a:pPr algn="ctr">
              <a:lnSpc>
                <a:spcPts val="7801"/>
              </a:lnSpc>
              <a:buNone/>
              <a:tabLst>
                <a:tab algn="l" pos="0"/>
              </a:tabLst>
            </a:pPr>
            <a:endParaRPr b="0" lang="es-ES" sz="1800" spc="-1" strike="noStrike">
              <a:latin typeface="Arial"/>
            </a:endParaRPr>
          </a:p>
        </p:txBody>
      </p:sp>
      <p:sp>
        <p:nvSpPr>
          <p:cNvPr id="228" name="Freeform 5"/>
          <p:cNvSpPr/>
          <p:nvPr/>
        </p:nvSpPr>
        <p:spPr>
          <a:xfrm flipV="1">
            <a:off x="11578680" y="720072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0" y="3204754"/>
                </a:moveTo>
                <a:lnTo>
                  <a:pt x="7315200" y="3204754"/>
                </a:lnTo>
                <a:lnTo>
                  <a:pt x="7315200" y="0"/>
                </a:lnTo>
                <a:lnTo>
                  <a:pt x="0" y="0"/>
                </a:lnTo>
                <a:lnTo>
                  <a:pt x="0" y="3204754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9" name="Picture 6" descr=""/>
          <p:cNvPicPr/>
          <p:nvPr/>
        </p:nvPicPr>
        <p:blipFill>
          <a:blip r:embed="rId3"/>
          <a:stretch/>
        </p:blipFill>
        <p:spPr>
          <a:xfrm>
            <a:off x="837360" y="3971880"/>
            <a:ext cx="5772600" cy="549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" descr=""/>
          <p:cNvPicPr/>
          <p:nvPr/>
        </p:nvPicPr>
        <p:blipFill>
          <a:blip r:embed="rId1"/>
          <a:stretch/>
        </p:blipFill>
        <p:spPr>
          <a:xfrm>
            <a:off x="3000960" y="3260520"/>
            <a:ext cx="5772600" cy="5491800"/>
          </a:xfrm>
          <a:prstGeom prst="rect">
            <a:avLst/>
          </a:prstGeom>
          <a:ln w="0">
            <a:noFill/>
          </a:ln>
        </p:spPr>
      </p:pic>
      <p:sp>
        <p:nvSpPr>
          <p:cNvPr id="231" name="TextBox 3"/>
          <p:cNvSpPr/>
          <p:nvPr/>
        </p:nvSpPr>
        <p:spPr>
          <a:xfrm>
            <a:off x="4741920" y="1689840"/>
            <a:ext cx="8799120" cy="9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7801"/>
              </a:lnSpc>
              <a:buNone/>
              <a:tabLst>
                <a:tab algn="l" pos="0"/>
              </a:tabLst>
            </a:pPr>
            <a:r>
              <a:rPr b="0" lang="en-US" sz="6500" spc="-1" strike="noStrike">
                <a:solidFill>
                  <a:srgbClr val="000000"/>
                </a:solidFill>
                <a:latin typeface="Dynapuff Condensed"/>
                <a:ea typeface="Dynapuff Condensed"/>
              </a:rPr>
              <a:t>BASE DE DATOS</a:t>
            </a:r>
            <a:endParaRPr b="0" lang="es-ES" sz="6500" spc="-1" strike="noStrike">
              <a:latin typeface="Arial"/>
            </a:endParaRPr>
          </a:p>
        </p:txBody>
      </p:sp>
      <p:sp>
        <p:nvSpPr>
          <p:cNvPr id="232" name="Freeform 4"/>
          <p:cNvSpPr/>
          <p:nvPr/>
        </p:nvSpPr>
        <p:spPr>
          <a:xfrm flipH="1">
            <a:off x="-92520" y="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Freeform 5"/>
          <p:cNvSpPr/>
          <p:nvPr/>
        </p:nvSpPr>
        <p:spPr>
          <a:xfrm flipV="1">
            <a:off x="11578680" y="720072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0" y="3204754"/>
                </a:moveTo>
                <a:lnTo>
                  <a:pt x="7315200" y="3204754"/>
                </a:lnTo>
                <a:lnTo>
                  <a:pt x="7315200" y="0"/>
                </a:lnTo>
                <a:lnTo>
                  <a:pt x="0" y="0"/>
                </a:lnTo>
                <a:lnTo>
                  <a:pt x="0" y="3204754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Box 6"/>
          <p:cNvSpPr/>
          <p:nvPr/>
        </p:nvSpPr>
        <p:spPr>
          <a:xfrm>
            <a:off x="8570520" y="3589560"/>
            <a:ext cx="9159120" cy="34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917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En el siguiente enlace se encuentra la base de datos en excel</a:t>
            </a:r>
            <a:endParaRPr b="0" lang="es-ES" sz="2800" spc="-1" strike="noStrike">
              <a:latin typeface="Arial"/>
            </a:endParaRPr>
          </a:p>
          <a:p>
            <a:pPr>
              <a:lnSpc>
                <a:spcPts val="3917"/>
              </a:lnSpc>
              <a:buNone/>
            </a:pPr>
            <a:endParaRPr b="0" lang="es-ES" sz="1800" spc="-1" strike="noStrike">
              <a:latin typeface="Arial"/>
            </a:endParaRPr>
          </a:p>
          <a:p>
            <a:pPr>
              <a:lnSpc>
                <a:spcPts val="3917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bstracted Dream"/>
                <a:ea typeface="Abstracted Dream"/>
              </a:rPr>
              <a:t>https://drive.google.com/drive/folders/18btZ5bG_hhxjw8v7m2uyxjjUz9mWEyiD?usp=sharing</a:t>
            </a:r>
            <a:endParaRPr b="0" lang="es-ES" sz="2800" spc="-1" strike="noStrike">
              <a:latin typeface="Arial"/>
            </a:endParaRPr>
          </a:p>
          <a:p>
            <a:pPr>
              <a:lnSpc>
                <a:spcPts val="3917"/>
              </a:lnSpc>
              <a:buNone/>
            </a:pP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2"/>
          <p:cNvSpPr/>
          <p:nvPr/>
        </p:nvSpPr>
        <p:spPr>
          <a:xfrm>
            <a:off x="5073840" y="3975840"/>
            <a:ext cx="8687880" cy="33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13374"/>
              </a:lnSpc>
              <a:buNone/>
              <a:tabLst>
                <a:tab algn="l" pos="0"/>
              </a:tabLst>
            </a:pPr>
            <a:r>
              <a:rPr b="0" lang="en-US" sz="16720" spc="500" strike="noStrike">
                <a:solidFill>
                  <a:srgbClr val="000000"/>
                </a:solidFill>
                <a:latin typeface="Dynapuff Condensed"/>
                <a:ea typeface="Dynapuff Condensed"/>
              </a:rPr>
              <a:t>THANK YOU</a:t>
            </a:r>
            <a:endParaRPr b="0" lang="es-ES" sz="16720" spc="-1" strike="noStrike">
              <a:latin typeface="Arial"/>
            </a:endParaRPr>
          </a:p>
        </p:txBody>
      </p:sp>
      <p:sp>
        <p:nvSpPr>
          <p:cNvPr id="236" name="Freeform 3"/>
          <p:cNvSpPr/>
          <p:nvPr/>
        </p:nvSpPr>
        <p:spPr>
          <a:xfrm flipH="1">
            <a:off x="-92520" y="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Freeform 4"/>
          <p:cNvSpPr/>
          <p:nvPr/>
        </p:nvSpPr>
        <p:spPr>
          <a:xfrm flipV="1">
            <a:off x="11578680" y="7200720"/>
            <a:ext cx="7314840" cy="3204360"/>
          </a:xfrm>
          <a:custGeom>
            <a:avLst/>
            <a:gdLst/>
            <a:ahLst/>
            <a:rect l="l" t="t" r="r" b="b"/>
            <a:pathLst>
              <a:path w="7315200" h="3204754">
                <a:moveTo>
                  <a:pt x="0" y="3204754"/>
                </a:moveTo>
                <a:lnTo>
                  <a:pt x="7315200" y="3204754"/>
                </a:lnTo>
                <a:lnTo>
                  <a:pt x="7315200" y="0"/>
                </a:lnTo>
                <a:lnTo>
                  <a:pt x="0" y="0"/>
                </a:lnTo>
                <a:lnTo>
                  <a:pt x="0" y="3204754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Freeform 5"/>
          <p:cNvSpPr/>
          <p:nvPr/>
        </p:nvSpPr>
        <p:spPr>
          <a:xfrm>
            <a:off x="-664200" y="6677640"/>
            <a:ext cx="6102720" cy="4114440"/>
          </a:xfrm>
          <a:custGeom>
            <a:avLst/>
            <a:gdLst/>
            <a:ah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Freeform 6"/>
          <p:cNvSpPr/>
          <p:nvPr/>
        </p:nvSpPr>
        <p:spPr>
          <a:xfrm flipH="1" flipV="1">
            <a:off x="12184920" y="-1029240"/>
            <a:ext cx="6102720" cy="4114440"/>
          </a:xfrm>
          <a:custGeom>
            <a:avLst/>
            <a:gdLst/>
            <a:ah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Freeform 7"/>
          <p:cNvSpPr/>
          <p:nvPr/>
        </p:nvSpPr>
        <p:spPr>
          <a:xfrm>
            <a:off x="14254920" y="-455040"/>
            <a:ext cx="5040000" cy="4114440"/>
          </a:xfrm>
          <a:custGeom>
            <a:avLst/>
            <a:gdLst/>
            <a:ah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Freeform 8"/>
          <p:cNvSpPr/>
          <p:nvPr/>
        </p:nvSpPr>
        <p:spPr>
          <a:xfrm>
            <a:off x="572760" y="6043680"/>
            <a:ext cx="2369520" cy="2300400"/>
          </a:xfrm>
          <a:custGeom>
            <a:avLst/>
            <a:gdLst/>
            <a:ah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DAGRyG2uXdE</dc:identifier>
  <dc:language>es-ES</dc:language>
  <cp:lastModifiedBy/>
  <dcterms:modified xsi:type="dcterms:W3CDTF">2024-10-31T11:48:10Z</dcterms:modified>
  <cp:revision>2</cp:revision>
  <dc:subject/>
  <dc:title>Proyecto Estadistica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